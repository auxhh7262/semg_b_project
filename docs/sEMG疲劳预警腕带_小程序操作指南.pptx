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3" r:id="rId5"/>
    <p:sldId id="264" r:id="rId6"/>
    <p:sldId id="267" r:id="rId7"/>
    <p:sldId id="269" r:id="rId8"/>
    <p:sldId id="27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940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g"/><Relationship Id="rId5" Type="http://schemas.openxmlformats.org/officeDocument/2006/relationships/image" Target="../media/image19.jpg"/><Relationship Id="rId4" Type="http://schemas.openxmlformats.org/officeDocument/2006/relationships/image" Target="../media/image1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A1A2E"/>
                </a:solidFill>
              </a:rPr>
              <a:t>sEMG疲劳预警腕带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0B84D"/>
                </a:solidFill>
              </a:rPr>
              <a:t>小程序操作指南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400" b="1" dirty="0" smtClean="0">
                <a:solidFill>
                  <a:srgbClr val="1A1A2E"/>
                </a:solidFill>
                <a:latin typeface="微软雅黑"/>
              </a:rPr>
              <a:t>目录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小程序四大核心模块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  <a:latin typeface="微软雅黑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网络配置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设备WiFi配网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扫描连接设备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输入WiFi凭证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三步配网流程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设备IP管理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4D"/>
                </a:solidFill>
                <a:latin typeface="微软雅黑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7472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肌电校准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建立个人基准线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录入个人信息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7472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静息态采集（10秒）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最大收缩采集（15秒）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校准结果保存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79FF"/>
                </a:solidFill>
                <a:latin typeface="微软雅黑"/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0080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实时监测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多维数据实时显示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RMS/MDF/收缩力度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疲劳度百分比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信号质量评分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算法状态指示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0" y="17373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/>
              </a:rPr>
              <a:t>04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26880" y="2103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</a:rPr>
              <a:t>数据分析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6E"/>
                </a:solidFill>
              </a:rPr>
              <a:t>统计与趋势可视化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326880" y="2926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多时间筛选维度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26880" y="3383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疲劳状态统计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32688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趋势图表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326880" y="4297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· CSV数据导出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84D"/>
                </a:solidFill>
              </a:rPr>
              <a:t>💡 提示：首次使用请先完成「网络配置」 → 「肌电校准」，确保算法已校准后再进入实时监测，以获得准确的疲劳度数据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网络配置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8900" y="640080"/>
            <a:ext cx="115239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「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扫描设备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」搜索附近</a:t>
            </a: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 sEMG 设备 → 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连接成功后显示设备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ID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输入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2.4GHz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WiFi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凭证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,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确认配置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等待配网完成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 → </a:t>
            </a:r>
            <a:r>
              <a:rPr lang="en-US" altLang="zh-CN" sz="1200" b="0" dirty="0" err="1">
                <a:solidFill>
                  <a:srgbClr val="5A5A6E"/>
                </a:solidFill>
                <a:latin typeface="微软雅黑"/>
              </a:rPr>
              <a:t>设备已连接WiFi网络，可查看IP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地址并进行管理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02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①扫描设备（确保设备已开机）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②设备已连接（绿色提示）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4953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③输入WiFi SSID和密码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④配置中（发送凭证到设备）</a:t>
            </a:r>
            <a:endParaRPr lang="en-US" sz="900" dirty="0"/>
          </a:p>
        </p:txBody>
      </p:sp>
      <p:sp>
        <p:nvSpPr>
          <p:cNvPr id="15" name="Text 4"/>
          <p:cNvSpPr/>
          <p:nvPr/>
        </p:nvSpPr>
        <p:spPr>
          <a:xfrm>
            <a:off x="9779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t>⑤配置成功（设备已连网）</a:t>
            </a:r>
            <a:endParaRPr lang="en-US" sz="900" dirty="0"/>
          </a:p>
        </p:txBody>
      </p:sp>
      <p:pic>
        <p:nvPicPr>
          <p:cNvPr id="21" name="Picture 20" descr="net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net_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net_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net_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  <p:pic>
        <p:nvPicPr>
          <p:cNvPr id="25" name="Picture 24" descr="net_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肌电校准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录入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</a:rPr>
              <a:t>个人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信息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 </a:t>
            </a:r>
            <a:r>
              <a:rPr lang="en-US" altLang="zh-CN" sz="1200" b="0" dirty="0" err="1" smtClean="0">
                <a:solidFill>
                  <a:srgbClr val="5A5A6E"/>
                </a:solidFill>
                <a:latin typeface="微软雅黑"/>
              </a:rPr>
              <a:t>确认开始校准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肌电校准页面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录入个人信息</a:t>
            </a:r>
            <a:endParaRPr lang="en-US" sz="900" dirty="0"/>
          </a:p>
        </p:txBody>
      </p:sp>
      <p:pic>
        <p:nvPicPr>
          <p:cNvPr id="11" name="Picture 10" descr="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12" name="Picture 11" descr="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肌电校准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altLang="zh-CN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静息态采集（10秒） → 最大收缩采集（15秒） → 校准通过保存数据 → 进入实时监测</a:t>
            </a:r>
            <a:endParaRPr lang="en-US" altLang="zh-CN" sz="1200" dirty="0"/>
          </a:p>
          <a:p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03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7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静息态采集</a:t>
            </a:r>
            <a:endParaRPr lang="en-US" altLang="zh-CN" sz="900" dirty="0"/>
          </a:p>
        </p:txBody>
      </p:sp>
      <p:sp>
        <p:nvSpPr>
          <p:cNvPr id="9" name="Text 5"/>
          <p:cNvSpPr/>
          <p:nvPr/>
        </p:nvSpPr>
        <p:spPr>
          <a:xfrm>
            <a:off x="2540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静息态采集完成提示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4953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最大收缩采集</a:t>
            </a:r>
            <a:endParaRPr lang="en-US" sz="900" dirty="0"/>
          </a:p>
        </p:txBody>
      </p:sp>
      <p:sp>
        <p:nvSpPr>
          <p:cNvPr id="15" name="Text 5"/>
          <p:cNvSpPr/>
          <p:nvPr/>
        </p:nvSpPr>
        <p:spPr>
          <a:xfrm>
            <a:off x="7366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/>
              <a:t>④</a:t>
            </a:r>
            <a:r>
              <a:rPr dirty="0" err="1" smtClean="0"/>
              <a:t>校准</a:t>
            </a:r>
            <a:r>
              <a:rPr lang="zh-CN" altLang="en-US" dirty="0" smtClean="0"/>
              <a:t>结果提示保存</a:t>
            </a:r>
            <a:endParaRPr lang="en-US" sz="900" dirty="0"/>
          </a:p>
        </p:txBody>
      </p:sp>
      <p:sp>
        <p:nvSpPr>
          <p:cNvPr id="17" name="Text 4"/>
          <p:cNvSpPr/>
          <p:nvPr/>
        </p:nvSpPr>
        <p:spPr>
          <a:xfrm>
            <a:off x="97790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⑤</a:t>
            </a:r>
            <a:r>
              <a:rPr lang="zh-CN" altLang="en-US" dirty="0" smtClean="0"/>
              <a:t>校准保存后提示跳转实时监测</a:t>
            </a:r>
            <a:endParaRPr lang="en-US" sz="900" dirty="0"/>
          </a:p>
        </p:txBody>
      </p:sp>
      <p:pic>
        <p:nvPicPr>
          <p:cNvPr id="21" name="Picture 20" descr="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00" y="1005840"/>
            <a:ext cx="2286000" cy="5120640"/>
          </a:xfrm>
          <a:prstGeom prst="rect">
            <a:avLst/>
          </a:prstGeom>
        </p:spPr>
      </p:pic>
      <p:pic>
        <p:nvPicPr>
          <p:cNvPr id="22" name="Picture 21" descr="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0" y="1005840"/>
            <a:ext cx="2286000" cy="5120640"/>
          </a:xfrm>
          <a:prstGeom prst="rect">
            <a:avLst/>
          </a:prstGeom>
        </p:spPr>
      </p:pic>
      <p:pic>
        <p:nvPicPr>
          <p:cNvPr id="23" name="Picture 22" descr="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1005840"/>
            <a:ext cx="2286000" cy="5120640"/>
          </a:xfrm>
          <a:prstGeom prst="rect">
            <a:avLst/>
          </a:prstGeom>
        </p:spPr>
      </p:pic>
      <p:pic>
        <p:nvPicPr>
          <p:cNvPr id="24" name="Picture 23" descr="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0" y="1005840"/>
            <a:ext cx="2286000" cy="5120640"/>
          </a:xfrm>
          <a:prstGeom prst="rect">
            <a:avLst/>
          </a:prstGeom>
        </p:spPr>
      </p:pic>
      <p:pic>
        <p:nvPicPr>
          <p:cNvPr id="25" name="Picture 24" descr="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实时监测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未佩戴：任何数据无意义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</a:rPr>
              <a:t>（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⚠</a:t>
            </a:r>
            <a:r>
              <a:rPr lang="zh-CN" altLang="en-US" sz="1200" dirty="0" smtClean="0">
                <a:solidFill>
                  <a:srgbClr val="5A5A6E"/>
                </a:solidFill>
                <a:latin typeface="微软雅黑"/>
              </a:rPr>
              <a:t>橙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</a:rPr>
              <a:t>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|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未校准：仅RMS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/MDF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有效</a:t>
            </a:r>
            <a:r>
              <a:rPr lang="en-US" altLang="zh-CN" sz="1200" dirty="0">
                <a:solidFill>
                  <a:srgbClr val="5A5A6E"/>
                </a:solidFill>
                <a:latin typeface="微软雅黑"/>
              </a:rPr>
              <a:t>（⚠</a:t>
            </a:r>
            <a:r>
              <a:rPr lang="en-US" altLang="zh-CN" sz="1200" dirty="0" err="1">
                <a:solidFill>
                  <a:srgbClr val="5A5A6E"/>
                </a:solidFill>
                <a:latin typeface="微软雅黑"/>
              </a:rPr>
              <a:t>红色警告提示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）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dirty="0" smtClean="0">
                <a:solidFill>
                  <a:srgbClr val="5A5A6E"/>
                </a:solidFill>
                <a:latin typeface="微软雅黑"/>
              </a:rPr>
              <a:t>| </a:t>
            </a:r>
            <a:r>
              <a:rPr lang="en-US" altLang="zh-CN" sz="1200" dirty="0" err="1" smtClean="0">
                <a:solidFill>
                  <a:srgbClr val="5A5A6E"/>
                </a:solidFill>
                <a:latin typeface="微软雅黑"/>
              </a:rPr>
              <a:t>已校准：显示个性化疲劳度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/>
              <a:t>①</a:t>
            </a:r>
            <a:r>
              <a:rPr dirty="0" err="1" smtClean="0"/>
              <a:t>未校准</a:t>
            </a:r>
            <a:r>
              <a:rPr lang="zh-CN" altLang="en-US" dirty="0" smtClean="0"/>
              <a:t>未佩戴</a:t>
            </a:r>
            <a:r>
              <a:rPr dirty="0" err="1" smtClean="0"/>
              <a:t>状态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已校准未佩戴状态</a:t>
            </a:r>
            <a:endParaRPr lang="en-US" sz="900" dirty="0"/>
          </a:p>
        </p:txBody>
      </p:sp>
      <p:sp>
        <p:nvSpPr>
          <p:cNvPr id="13" name="TextBox 12"/>
          <p:cNvSpPr txBox="1"/>
          <p:nvPr/>
        </p:nvSpPr>
        <p:spPr>
          <a:xfrm>
            <a:off x="3505200" y="6240110"/>
            <a:ext cx="2286000" cy="1384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未</a:t>
            </a:r>
            <a:r>
              <a:rPr dirty="0" err="1" smtClean="0"/>
              <a:t>校准</a:t>
            </a:r>
            <a:r>
              <a:rPr lang="zh-CN" altLang="en-US" dirty="0" smtClean="0"/>
              <a:t>已佩戴</a:t>
            </a:r>
            <a:r>
              <a:rPr dirty="0" err="1" smtClean="0"/>
              <a:t>状态</a:t>
            </a:r>
            <a:endParaRPr lang="en-US" altLang="zh-CN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005840"/>
            <a:ext cx="2286000" cy="51206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96400" y="6193944"/>
            <a:ext cx="2286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④</a:t>
            </a:r>
            <a:r>
              <a:rPr lang="zh-CN" altLang="en-US" dirty="0" smtClean="0"/>
              <a:t>已校准已佩戴状态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A1A2E"/>
                </a:solidFill>
                <a:latin typeface="微软雅黑"/>
              </a:rPr>
              <a:t>数据分析</a:t>
            </a:r>
            <a:r>
              <a:rPr lang="en-US" sz="2400" b="1" dirty="0">
                <a:solidFill>
                  <a:srgbClr val="1A1A2E"/>
                </a:solidFill>
                <a:latin typeface="微软雅黑"/>
              </a:rPr>
              <a:t> 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时间筛选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（今天</a:t>
            </a:r>
            <a:r>
              <a:rPr lang="en-US" sz="1200" b="0" dirty="0">
                <a:solidFill>
                  <a:srgbClr val="5A5A6E"/>
                </a:solidFill>
                <a:latin typeface="微软雅黑"/>
              </a:rPr>
              <a:t>/昨天/最近3天/最近7天/最近30天/自定义） → 疲劳度趋势图表（ 疲劳度占比、峰值标记、智能建议、波形显示、颜色渐变填充 ） → CSV原始数据导出 → </a:t>
            </a:r>
            <a:r>
              <a:rPr lang="zh-CN" altLang="en-US" sz="1200" b="0" dirty="0" smtClean="0">
                <a:solidFill>
                  <a:srgbClr val="5A5A6E"/>
                </a:solidFill>
                <a:latin typeface="微软雅黑"/>
              </a:rPr>
              <a:t>原始数据转发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微信</a:t>
            </a:r>
            <a:endParaRPr lang="en-US" altLang="zh-CN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96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①</a:t>
            </a:r>
            <a:r>
              <a:rPr lang="zh-CN" altLang="en-US" dirty="0" smtClean="0"/>
              <a:t>查询今日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5052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②</a:t>
            </a:r>
            <a:r>
              <a:rPr lang="zh-CN" altLang="en-US" dirty="0" smtClean="0"/>
              <a:t>查询最近</a:t>
            </a:r>
            <a:r>
              <a:rPr lang="en-US" altLang="zh-CN" dirty="0" smtClean="0"/>
              <a:t>3</a:t>
            </a:r>
            <a:r>
              <a:rPr lang="zh-CN" altLang="en-US" dirty="0" smtClean="0"/>
              <a:t>天</a:t>
            </a:r>
            <a:endParaRPr lang="en-US" sz="900" dirty="0"/>
          </a:p>
        </p:txBody>
      </p:sp>
      <p:sp>
        <p:nvSpPr>
          <p:cNvPr id="11" name="Text 4"/>
          <p:cNvSpPr/>
          <p:nvPr/>
        </p:nvSpPr>
        <p:spPr>
          <a:xfrm>
            <a:off x="64008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③</a:t>
            </a:r>
            <a:r>
              <a:rPr lang="zh-CN" altLang="en-US" dirty="0" smtClean="0"/>
              <a:t>导出今日数据</a:t>
            </a:r>
            <a:endParaRPr lang="en-US" sz="900" dirty="0"/>
          </a:p>
        </p:txBody>
      </p:sp>
      <p:sp>
        <p:nvSpPr>
          <p:cNvPr id="13" name="Text 5"/>
          <p:cNvSpPr/>
          <p:nvPr/>
        </p:nvSpPr>
        <p:spPr>
          <a:xfrm>
            <a:off x="92964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④</a:t>
            </a:r>
            <a:r>
              <a:rPr lang="zh-CN" altLang="en-US" dirty="0" smtClean="0"/>
              <a:t>数据发送到微信</a:t>
            </a:r>
            <a:endParaRPr lang="en-US" sz="900" dirty="0"/>
          </a:p>
        </p:txBody>
      </p:sp>
      <p:pic>
        <p:nvPicPr>
          <p:cNvPr id="14" name="Picture 13" descr="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005840"/>
            <a:ext cx="2286000" cy="5120640"/>
          </a:xfrm>
          <a:prstGeom prst="rect">
            <a:avLst/>
          </a:prstGeom>
        </p:spPr>
      </p:pic>
      <p:pic>
        <p:nvPicPr>
          <p:cNvPr id="15" name="Picture 14" descr="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5200" y="1005840"/>
            <a:ext cx="2286000" cy="5120640"/>
          </a:xfrm>
          <a:prstGeom prst="rect">
            <a:avLst/>
          </a:prstGeom>
        </p:spPr>
      </p:pic>
      <p:pic>
        <p:nvPicPr>
          <p:cNvPr id="16" name="Picture 15" descr="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005840"/>
            <a:ext cx="2286000" cy="5120640"/>
          </a:xfrm>
          <a:prstGeom prst="rect">
            <a:avLst/>
          </a:prstGeom>
        </p:spPr>
      </p:pic>
      <p:pic>
        <p:nvPicPr>
          <p:cNvPr id="17" name="Picture 16" descr="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64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 smtClean="0">
                <a:solidFill>
                  <a:srgbClr val="1A1A2E"/>
                </a:solidFill>
                <a:latin typeface="微软雅黑"/>
              </a:rPr>
              <a:t>数据分析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CN" sz="1200" b="0" dirty="0" err="1" smtClean="0">
                <a:solidFill>
                  <a:srgbClr val="1A1A2E"/>
                </a:solidFill>
                <a:latin typeface="微软雅黑"/>
              </a:rPr>
              <a:t>原始数据</a:t>
            </a:r>
            <a:r>
              <a:rPr lang="zh-CN" altLang="en-US" sz="1200" b="0" dirty="0" smtClean="0">
                <a:solidFill>
                  <a:srgbClr val="1A1A2E"/>
                </a:solidFill>
                <a:latin typeface="微软雅黑"/>
              </a:rPr>
              <a:t>转发微信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 </a:t>
            </a:r>
            <a:r>
              <a:rPr lang="en-US" altLang="zh-CN" sz="1200" b="0" dirty="0">
                <a:solidFill>
                  <a:srgbClr val="5A5A6E"/>
                </a:solidFill>
                <a:latin typeface="微软雅黑"/>
              </a:rPr>
              <a:t>→</a:t>
            </a:r>
            <a:r>
              <a:rPr lang="en-US" altLang="zh-CN" sz="1200" b="0" dirty="0" smtClean="0">
                <a:latin typeface="微软雅黑"/>
              </a:rPr>
              <a:t> 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CSV</a:t>
            </a:r>
            <a:r>
              <a:rPr lang="en-US" sz="1200" b="0" dirty="0" err="1">
                <a:solidFill>
                  <a:srgbClr val="5A5A6E"/>
                </a:solidFill>
                <a:latin typeface="微软雅黑"/>
              </a:rPr>
              <a:t>文件内容示例：</a:t>
            </a:r>
            <a:r>
              <a:rPr lang="en-US" sz="1200" b="0" dirty="0" err="1" smtClean="0">
                <a:solidFill>
                  <a:srgbClr val="5A5A6E"/>
                </a:solidFill>
                <a:latin typeface="微软雅黑"/>
              </a:rPr>
              <a:t>Date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/Time/RMS/A</a:t>
            </a:r>
            <a:r>
              <a:rPr lang="en-US" altLang="zh-CN" sz="1200" b="0" dirty="0" smtClean="0">
                <a:solidFill>
                  <a:srgbClr val="5A5A6E"/>
                </a:solidFill>
                <a:latin typeface="微软雅黑"/>
              </a:rPr>
              <a:t>ctivation/</a:t>
            </a:r>
            <a:r>
              <a:rPr lang="en-US" sz="1200" b="0" dirty="0" smtClean="0">
                <a:solidFill>
                  <a:srgbClr val="5A5A6E"/>
                </a:solidFill>
                <a:latin typeface="微软雅黑"/>
              </a:rPr>
              <a:t>MDF/Fatigue/Quality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914400" cy="914400"/>
          </a:xfrm>
          <a:prstGeom prst="line">
            <a:avLst/>
          </a:prstGeom>
          <a:noFill/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966960" y="182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/>
              </a:rPr>
              <a:t>05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242560" y="6172200"/>
            <a:ext cx="487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 sz="900">
                <a:latin typeface="微软雅黑"/>
              </a:defRPr>
            </a:pPr>
            <a:r>
              <a:rPr dirty="0" smtClean="0"/>
              <a:t>⑦</a:t>
            </a:r>
            <a:r>
              <a:rPr lang="zh-CN" altLang="en-US" dirty="0" smtClean="0"/>
              <a:t>原始数据信息展示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1028700" y="6172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 sz="900">
                <a:latin typeface="微软雅黑"/>
              </a:defRPr>
            </a:pPr>
            <a:r>
              <a:rPr dirty="0" smtClean="0"/>
              <a:t>⑥</a:t>
            </a:r>
            <a:r>
              <a:rPr lang="zh-CN" altLang="en-US" dirty="0" smtClean="0"/>
              <a:t>数据发送到微信</a:t>
            </a:r>
            <a:endParaRPr lang="en-US" sz="900" dirty="0"/>
          </a:p>
        </p:txBody>
      </p:sp>
      <p:pic>
        <p:nvPicPr>
          <p:cNvPr id="11" name="Picture 10" descr="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2560" y="1005840"/>
            <a:ext cx="4876800" cy="5120640"/>
          </a:xfrm>
          <a:prstGeom prst="rect">
            <a:avLst/>
          </a:prstGeom>
        </p:spPr>
      </p:pic>
      <p:pic>
        <p:nvPicPr>
          <p:cNvPr id="12" name="Picture 11" descr="5_blurr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1005840"/>
            <a:ext cx="228600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337</Words>
  <Application>Microsoft Office PowerPoint</Application>
  <PresentationFormat>宽屏</PresentationFormat>
  <Paragraphs>82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等线</vt:lpstr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Huang Hong (黄洪)</cp:lastModifiedBy>
  <cp:revision>18</cp:revision>
  <dcterms:created xsi:type="dcterms:W3CDTF">2026-07-07T10:04:36Z</dcterms:created>
  <dcterms:modified xsi:type="dcterms:W3CDTF">2026-07-11T15:35:14Z</dcterms:modified>
</cp:coreProperties>
</file>