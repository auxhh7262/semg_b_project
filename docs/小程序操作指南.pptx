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9" r:id="rId2"/>
    <p:sldId id="260" r:id="rId3"/>
    <p:sldId id="263" r:id="rId4"/>
    <p:sldId id="264" r:id="rId5"/>
    <p:sldId id="267" r:id="rId6"/>
    <p:sldId id="269" r:id="rId7"/>
    <p:sldId id="27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4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9406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7" Type="http://schemas.openxmlformats.org/officeDocument/2006/relationships/image" Target="../media/image1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jpg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jpg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966960" y="182880"/>
            <a:ext cx="1645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7C00"/>
                </a:solidFill>
                <a:latin typeface="微软雅黑"/>
                <a:ea typeface="微软雅黑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微软雅黑"/>
                <a:ea typeface="微软雅黑"/>
              </a:rPr>
              <a:t>网络配置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6E"/>
                </a:solidFill>
                <a:latin typeface="微软雅黑"/>
                <a:ea typeface="微软雅黑"/>
              </a:rPr>
              <a:t>设备WiFi配网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92608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微软雅黑"/>
                <a:ea typeface="微软雅黑"/>
              </a:rPr>
              <a:t>· 扫描连接设备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38328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微软雅黑"/>
                <a:ea typeface="微软雅黑"/>
              </a:rPr>
              <a:t>· 输入WiFi凭证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84048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微软雅黑"/>
                <a:ea typeface="微软雅黑"/>
              </a:rPr>
              <a:t>· 三步配网流程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173736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84D"/>
                </a:solidFill>
                <a:latin typeface="微软雅黑"/>
                <a:ea typeface="微软雅黑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474720" y="210312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微软雅黑"/>
                <a:ea typeface="微软雅黑"/>
              </a:rPr>
              <a:t>肌电校准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74720" y="2468880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6E"/>
                </a:solidFill>
                <a:latin typeface="微软雅黑"/>
                <a:ea typeface="微软雅黑"/>
              </a:rPr>
              <a:t>建立个人基准线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0" y="292608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微软雅黑"/>
                <a:ea typeface="微软雅黑"/>
              </a:rPr>
              <a:t>· 录入个人信息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0" y="338328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微软雅黑"/>
                <a:ea typeface="微软雅黑"/>
              </a:rPr>
              <a:t>· 静息态采集（10秒）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0" y="384048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微软雅黑"/>
                <a:ea typeface="微软雅黑"/>
              </a:rPr>
              <a:t>· </a:t>
            </a:r>
            <a:r>
              <a:rPr lang="en-US" sz="1100" dirty="0" smtClean="0">
                <a:solidFill>
                  <a:srgbClr val="1A1A2E"/>
                </a:solidFill>
                <a:latin typeface="微软雅黑"/>
                <a:ea typeface="微软雅黑"/>
              </a:rPr>
              <a:t>收缩采集</a:t>
            </a:r>
            <a:r>
              <a:rPr lang="en-US" sz="1100" dirty="0">
                <a:solidFill>
                  <a:srgbClr val="1A1A2E"/>
                </a:solidFill>
                <a:latin typeface="微软雅黑"/>
                <a:ea typeface="微软雅黑"/>
              </a:rPr>
              <a:t>（15秒）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74720" y="429768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微软雅黑"/>
                <a:ea typeface="微软雅黑"/>
              </a:rPr>
              <a:t>· 校准结果保存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173736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79FF"/>
                </a:solidFill>
                <a:latin typeface="微软雅黑"/>
                <a:ea typeface="微软雅黑"/>
              </a:rPr>
              <a:t>03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400800" y="210312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微软雅黑"/>
                <a:ea typeface="微软雅黑"/>
              </a:rPr>
              <a:t>实时监测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0" y="2468880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6E"/>
                </a:solidFill>
                <a:latin typeface="微软雅黑"/>
                <a:ea typeface="微软雅黑"/>
              </a:rPr>
              <a:t>多维数据实时显示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292608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微软雅黑"/>
                <a:ea typeface="微软雅黑"/>
              </a:rPr>
              <a:t>· </a:t>
            </a:r>
            <a:r>
              <a:rPr lang="en-US" sz="1100" dirty="0" smtClean="0">
                <a:solidFill>
                  <a:srgbClr val="1A1A2E"/>
                </a:solidFill>
                <a:latin typeface="微软雅黑"/>
                <a:ea typeface="微软雅黑"/>
              </a:rPr>
              <a:t>RMS/MDF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338328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100" dirty="0">
                <a:solidFill>
                  <a:srgbClr val="1A1A2E"/>
                </a:solidFill>
                <a:latin typeface="微软雅黑"/>
                <a:ea typeface="微软雅黑"/>
              </a:rPr>
              <a:t>· </a:t>
            </a:r>
            <a:r>
              <a:rPr lang="en-US" altLang="zh-CN" sz="1100" dirty="0" err="1" smtClean="0">
                <a:solidFill>
                  <a:srgbClr val="1A1A2E"/>
                </a:solidFill>
                <a:latin typeface="微软雅黑"/>
                <a:ea typeface="微软雅黑"/>
              </a:rPr>
              <a:t>收缩力度</a:t>
            </a:r>
            <a:r>
              <a:rPr lang="en-US" altLang="zh-CN" sz="1100" dirty="0">
                <a:solidFill>
                  <a:srgbClr val="1A1A2E"/>
                </a:solidFill>
                <a:latin typeface="微软雅黑"/>
                <a:ea typeface="微软雅黑"/>
              </a:rPr>
              <a:t>/</a:t>
            </a:r>
            <a:r>
              <a:rPr lang="en-US" sz="1100" dirty="0" err="1" smtClean="0">
                <a:solidFill>
                  <a:srgbClr val="1A1A2E"/>
                </a:solidFill>
                <a:latin typeface="微软雅黑"/>
                <a:ea typeface="微软雅黑"/>
              </a:rPr>
              <a:t>疲劳度百分比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384048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微软雅黑"/>
                <a:ea typeface="微软雅黑"/>
              </a:rPr>
              <a:t>· 信号质量评分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0" y="429768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微软雅黑"/>
                <a:ea typeface="微软雅黑"/>
              </a:rPr>
              <a:t>· 算法状态指示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326880" y="173736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微软雅黑"/>
                <a:ea typeface="微软雅黑"/>
              </a:rPr>
              <a:t>04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326880" y="210312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微软雅黑"/>
                <a:ea typeface="微软雅黑"/>
              </a:rPr>
              <a:t>数据分析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326880" y="2468880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6E"/>
                </a:solidFill>
                <a:latin typeface="微软雅黑"/>
                <a:ea typeface="微软雅黑"/>
              </a:rPr>
              <a:t>统计与趋势可视化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326880" y="292608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100" dirty="0">
                <a:solidFill>
                  <a:srgbClr val="1A1A2E"/>
                </a:solidFill>
                <a:latin typeface="微软雅黑"/>
                <a:ea typeface="微软雅黑"/>
              </a:rPr>
              <a:t>· </a:t>
            </a:r>
            <a:r>
              <a:rPr lang="en-US" sz="1100" dirty="0" err="1" smtClean="0">
                <a:solidFill>
                  <a:srgbClr val="1A1A2E"/>
                </a:solidFill>
                <a:latin typeface="微软雅黑"/>
                <a:ea typeface="微软雅黑"/>
              </a:rPr>
              <a:t>多时间维度</a:t>
            </a:r>
            <a:r>
              <a:rPr lang="en-US" altLang="zh-CN" sz="1100" dirty="0" err="1">
                <a:solidFill>
                  <a:srgbClr val="1A1A2E"/>
                </a:solidFill>
                <a:latin typeface="微软雅黑"/>
                <a:ea typeface="微软雅黑"/>
              </a:rPr>
              <a:t>筛选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326880" y="338328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微软雅黑"/>
                <a:ea typeface="微软雅黑"/>
              </a:rPr>
              <a:t>· 疲劳状态统计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326880" y="384048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微软雅黑"/>
                <a:ea typeface="微软雅黑"/>
              </a:rPr>
              <a:t>· 趋势图表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326880" y="429768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微软雅黑"/>
                <a:ea typeface="微软雅黑"/>
              </a:rPr>
              <a:t>· CSV数据导出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457200" y="5212080"/>
            <a:ext cx="11247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84D"/>
                </a:solidFill>
                <a:latin typeface="微软雅黑"/>
                <a:ea typeface="微软雅黑"/>
              </a:rPr>
              <a:t>💡 提示：首次使用请先完成「网络配置」 → 「肌电校准」，确保算法已校准后再进入实时监测，以获得准确的疲劳度数据</a:t>
            </a:r>
            <a:endParaRPr lang="en-US" sz="1100" dirty="0"/>
          </a:p>
        </p:txBody>
      </p:sp>
      <p:sp>
        <p:nvSpPr>
          <p:cNvPr id="36" name="Text 0"/>
          <p:cNvSpPr/>
          <p:nvPr/>
        </p:nvSpPr>
        <p:spPr>
          <a:xfrm>
            <a:off x="457200" y="395722"/>
            <a:ext cx="91440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A1A2E"/>
                </a:solidFill>
                <a:latin typeface="微软雅黑"/>
                <a:ea typeface="微软雅黑"/>
              </a:rPr>
              <a:t>小程序操作指南</a:t>
            </a:r>
            <a:endParaRPr lang="en-US" sz="5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 smtClean="0">
                <a:solidFill>
                  <a:srgbClr val="1A1A2E"/>
                </a:solidFill>
                <a:latin typeface="微软雅黑"/>
                <a:ea typeface="微软雅黑"/>
              </a:rPr>
              <a:t>网络配置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115239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200" b="0" dirty="0" err="1" smtClean="0">
                <a:solidFill>
                  <a:srgbClr val="5A5A6E"/>
                </a:solidFill>
                <a:latin typeface="微软雅黑"/>
                <a:ea typeface="微软雅黑"/>
              </a:rPr>
              <a:t>扫描设备</a:t>
            </a:r>
            <a:r>
              <a:rPr lang="en-US" sz="1200" b="0" dirty="0" err="1">
                <a:solidFill>
                  <a:srgbClr val="5A5A6E"/>
                </a:solidFill>
                <a:latin typeface="微软雅黑"/>
                <a:ea typeface="微软雅黑"/>
              </a:rPr>
              <a:t>」</a:t>
            </a:r>
            <a:r>
              <a:rPr lang="en-US" sz="1200" b="0" dirty="0" err="1" smtClean="0">
                <a:solidFill>
                  <a:srgbClr val="5A5A6E"/>
                </a:solidFill>
                <a:latin typeface="微软雅黑"/>
                <a:ea typeface="微软雅黑"/>
              </a:rPr>
              <a:t>搜索附近BLE设备</a:t>
            </a:r>
            <a:r>
              <a:rPr lang="zh-CN" altLang="en-US" sz="1200" b="0" dirty="0" smtClean="0">
                <a:solidFill>
                  <a:srgbClr val="5A5A6E"/>
                </a:solidFill>
                <a:latin typeface="微软雅黑"/>
                <a:ea typeface="微软雅黑"/>
              </a:rPr>
              <a:t>（</a:t>
            </a:r>
            <a:r>
              <a:rPr lang="en-US" altLang="zh-CN" sz="1200" b="0" dirty="0" err="1" smtClean="0">
                <a:solidFill>
                  <a:srgbClr val="5A5A6E"/>
                </a:solidFill>
                <a:latin typeface="微软雅黑"/>
                <a:ea typeface="微软雅黑"/>
              </a:rPr>
              <a:t>sEMG_xxxx</a:t>
            </a:r>
            <a:r>
              <a:rPr lang="zh-CN" altLang="en-US" sz="1200" b="0" dirty="0" smtClean="0">
                <a:solidFill>
                  <a:srgbClr val="5A5A6E"/>
                </a:solidFill>
                <a:latin typeface="微软雅黑"/>
                <a:ea typeface="微软雅黑"/>
              </a:rPr>
              <a:t>）</a:t>
            </a:r>
            <a:r>
              <a:rPr lang="en-US" sz="1200" b="0" dirty="0" smtClean="0">
                <a:solidFill>
                  <a:srgbClr val="5A5A6E"/>
                </a:solidFill>
                <a:latin typeface="微软雅黑"/>
                <a:ea typeface="微软雅黑"/>
              </a:rPr>
              <a:t> </a:t>
            </a:r>
            <a:r>
              <a:rPr lang="en-US" sz="1200" b="0" dirty="0">
                <a:solidFill>
                  <a:srgbClr val="5A5A6E"/>
                </a:solidFill>
                <a:latin typeface="微软雅黑"/>
                <a:ea typeface="微软雅黑"/>
              </a:rPr>
              <a:t>→ </a:t>
            </a:r>
            <a:r>
              <a:rPr lang="en-US" sz="1200" b="0" dirty="0" err="1">
                <a:solidFill>
                  <a:srgbClr val="5A5A6E"/>
                </a:solidFill>
                <a:latin typeface="微软雅黑"/>
                <a:ea typeface="微软雅黑"/>
              </a:rPr>
              <a:t>连接成功后显示设备</a:t>
            </a:r>
            <a:r>
              <a:rPr lang="en-US" sz="1200" b="0" dirty="0" err="1" smtClean="0">
                <a:solidFill>
                  <a:srgbClr val="5A5A6E"/>
                </a:solidFill>
                <a:latin typeface="微软雅黑"/>
                <a:ea typeface="微软雅黑"/>
              </a:rPr>
              <a:t>ID</a:t>
            </a:r>
            <a:r>
              <a:rPr lang="en-US" sz="1200" b="0" dirty="0" smtClean="0">
                <a:solidFill>
                  <a:srgbClr val="5A5A6E"/>
                </a:solidFill>
                <a:latin typeface="微软雅黑"/>
                <a:ea typeface="微软雅黑"/>
              </a:rPr>
              <a:t> </a:t>
            </a:r>
            <a:r>
              <a:rPr lang="en-US" altLang="zh-CN" sz="1200" b="0" dirty="0">
                <a:solidFill>
                  <a:srgbClr val="5A5A6E"/>
                </a:solidFill>
                <a:latin typeface="微软雅黑"/>
                <a:ea typeface="微软雅黑"/>
              </a:rPr>
              <a:t>→ </a:t>
            </a:r>
            <a:r>
              <a:rPr lang="en-US" altLang="zh-CN" sz="1200" b="0" dirty="0" smtClean="0">
                <a:solidFill>
                  <a:srgbClr val="5A5A6E"/>
                </a:solidFill>
                <a:latin typeface="微软雅黑"/>
                <a:ea typeface="微软雅黑"/>
              </a:rPr>
              <a:t>输入</a:t>
            </a:r>
            <a:r>
              <a:rPr lang="en-US" altLang="zh-CN" sz="1200" b="0" dirty="0">
                <a:solidFill>
                  <a:srgbClr val="5A5A6E"/>
                </a:solidFill>
                <a:latin typeface="微软雅黑"/>
                <a:ea typeface="微软雅黑"/>
              </a:rPr>
              <a:t>2.4GHz </a:t>
            </a:r>
            <a:r>
              <a:rPr lang="en-US" altLang="zh-CN" sz="1200" b="0" dirty="0" err="1">
                <a:solidFill>
                  <a:srgbClr val="5A5A6E"/>
                </a:solidFill>
                <a:latin typeface="微软雅黑"/>
                <a:ea typeface="微软雅黑"/>
              </a:rPr>
              <a:t>WiFi</a:t>
            </a:r>
            <a:r>
              <a:rPr lang="en-US" altLang="zh-CN" sz="1200" b="0" dirty="0" err="1" smtClean="0">
                <a:solidFill>
                  <a:srgbClr val="5A5A6E"/>
                </a:solidFill>
                <a:latin typeface="微软雅黑"/>
                <a:ea typeface="微软雅黑"/>
              </a:rPr>
              <a:t>凭证</a:t>
            </a:r>
            <a:r>
              <a:rPr lang="en-US" altLang="zh-CN" sz="1200" b="0" dirty="0" err="1">
                <a:solidFill>
                  <a:srgbClr val="5A5A6E"/>
                </a:solidFill>
                <a:latin typeface="微软雅黑"/>
                <a:ea typeface="微软雅黑"/>
              </a:rPr>
              <a:t>,</a:t>
            </a:r>
            <a:r>
              <a:rPr lang="en-US" altLang="zh-CN" sz="1200" b="0" dirty="0" err="1" smtClean="0">
                <a:solidFill>
                  <a:srgbClr val="5A5A6E"/>
                </a:solidFill>
                <a:latin typeface="微软雅黑"/>
                <a:ea typeface="微软雅黑"/>
              </a:rPr>
              <a:t>确认配置</a:t>
            </a:r>
            <a:r>
              <a:rPr lang="en-US" altLang="zh-CN" sz="1200" b="0" dirty="0" smtClean="0">
                <a:solidFill>
                  <a:srgbClr val="5A5A6E"/>
                </a:solidFill>
                <a:latin typeface="微软雅黑"/>
                <a:ea typeface="微软雅黑"/>
              </a:rPr>
              <a:t> </a:t>
            </a:r>
            <a:r>
              <a:rPr lang="en-US" altLang="zh-CN" sz="1200" b="0" dirty="0">
                <a:solidFill>
                  <a:srgbClr val="5A5A6E"/>
                </a:solidFill>
                <a:latin typeface="微软雅黑"/>
                <a:ea typeface="微软雅黑"/>
              </a:rPr>
              <a:t>→ </a:t>
            </a:r>
            <a:r>
              <a:rPr lang="en-US" altLang="zh-CN" sz="1200" dirty="0" err="1" smtClean="0">
                <a:solidFill>
                  <a:srgbClr val="5A5A6E"/>
                </a:solidFill>
                <a:latin typeface="微软雅黑"/>
                <a:ea typeface="微软雅黑"/>
              </a:rPr>
              <a:t>设备连接</a:t>
            </a:r>
            <a:r>
              <a:rPr lang="en-US" altLang="zh-CN" sz="1200" dirty="0" err="1">
                <a:solidFill>
                  <a:srgbClr val="5A5A6E"/>
                </a:solidFill>
                <a:latin typeface="微软雅黑"/>
                <a:ea typeface="微软雅黑"/>
              </a:rPr>
              <a:t>WiFi</a:t>
            </a:r>
            <a:r>
              <a:rPr lang="en-US" altLang="zh-CN" sz="1200" dirty="0" err="1" smtClean="0">
                <a:solidFill>
                  <a:srgbClr val="5A5A6E"/>
                </a:solidFill>
                <a:latin typeface="微软雅黑"/>
                <a:ea typeface="微软雅黑"/>
              </a:rPr>
              <a:t>网络</a:t>
            </a:r>
            <a:r>
              <a:rPr lang="en-US" altLang="zh-CN" sz="1200" b="0" dirty="0" smtClean="0">
                <a:solidFill>
                  <a:srgbClr val="5A5A6E"/>
                </a:solidFill>
                <a:latin typeface="微软雅黑"/>
                <a:ea typeface="微软雅黑"/>
              </a:rPr>
              <a:t>→ </a:t>
            </a:r>
            <a:r>
              <a:rPr lang="zh-CN" altLang="en-US" sz="1200" b="0" dirty="0" smtClean="0">
                <a:solidFill>
                  <a:srgbClr val="5A5A6E"/>
                </a:solidFill>
                <a:latin typeface="微软雅黑"/>
                <a:ea typeface="微软雅黑"/>
              </a:rPr>
              <a:t>提示配网成功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966960" y="182880"/>
            <a:ext cx="1645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27000" y="617220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 sz="1100">
                <a:latin typeface="微软雅黑"/>
                <a:ea typeface="微软雅黑"/>
              </a:defRPr>
            </a:pPr>
            <a:r>
              <a:rPr sz="1100" b="0" i="0">
                <a:latin typeface="微软雅黑"/>
                <a:ea typeface="微软雅黑"/>
              </a:rPr>
              <a:t>①扫描设备（确保设备已开机）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2540000" y="617220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 sz="1100">
                <a:latin typeface="微软雅黑"/>
                <a:ea typeface="微软雅黑"/>
              </a:defRPr>
            </a:pPr>
            <a:r>
              <a:rPr sz="1100" b="0" i="0" dirty="0">
                <a:latin typeface="微软雅黑"/>
                <a:ea typeface="微软雅黑"/>
              </a:rPr>
              <a:t>②</a:t>
            </a:r>
            <a:r>
              <a:rPr sz="1100" b="0" i="0">
                <a:latin typeface="微软雅黑"/>
                <a:ea typeface="微软雅黑"/>
              </a:rPr>
              <a:t>设备已连接（绿色提示</a:t>
            </a:r>
            <a:r>
              <a:rPr sz="1100" b="0" i="0" dirty="0">
                <a:latin typeface="微软雅黑"/>
                <a:ea typeface="微软雅黑"/>
              </a:rPr>
              <a:t>）</a:t>
            </a:r>
            <a:endParaRPr lang="en-US" sz="900" dirty="0"/>
          </a:p>
        </p:txBody>
      </p:sp>
      <p:sp>
        <p:nvSpPr>
          <p:cNvPr id="11" name="Text 4"/>
          <p:cNvSpPr/>
          <p:nvPr/>
        </p:nvSpPr>
        <p:spPr>
          <a:xfrm>
            <a:off x="4953000" y="617220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 sz="1100">
                <a:latin typeface="微软雅黑"/>
                <a:ea typeface="微软雅黑"/>
              </a:defRPr>
            </a:pPr>
            <a:r>
              <a:rPr sz="1100" b="0" i="0">
                <a:latin typeface="微软雅黑"/>
                <a:ea typeface="微软雅黑"/>
              </a:rPr>
              <a:t>③输入WiFi SSID和密码</a:t>
            </a:r>
            <a:endParaRPr lang="en-US" sz="900" dirty="0"/>
          </a:p>
        </p:txBody>
      </p:sp>
      <p:sp>
        <p:nvSpPr>
          <p:cNvPr id="13" name="Text 5"/>
          <p:cNvSpPr/>
          <p:nvPr/>
        </p:nvSpPr>
        <p:spPr>
          <a:xfrm>
            <a:off x="7366000" y="617220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 sz="1100">
                <a:latin typeface="微软雅黑"/>
                <a:ea typeface="微软雅黑"/>
              </a:defRPr>
            </a:pPr>
            <a:r>
              <a:rPr sz="1100" b="0" i="0">
                <a:latin typeface="微软雅黑"/>
                <a:ea typeface="微软雅黑"/>
              </a:rPr>
              <a:t>④配置中（发送凭证到设备）</a:t>
            </a:r>
            <a:endParaRPr lang="en-US" sz="900" dirty="0"/>
          </a:p>
        </p:txBody>
      </p:sp>
      <p:sp>
        <p:nvSpPr>
          <p:cNvPr id="15" name="Text 4"/>
          <p:cNvSpPr/>
          <p:nvPr/>
        </p:nvSpPr>
        <p:spPr>
          <a:xfrm>
            <a:off x="9779000" y="617220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 sz="1100">
                <a:latin typeface="微软雅黑"/>
                <a:ea typeface="微软雅黑"/>
              </a:defRPr>
            </a:pPr>
            <a:r>
              <a:rPr sz="1100" b="0" i="0" dirty="0">
                <a:latin typeface="微软雅黑"/>
                <a:ea typeface="微软雅黑"/>
              </a:rPr>
              <a:t>⑤</a:t>
            </a:r>
            <a:r>
              <a:rPr sz="1100" b="0" i="0" dirty="0" err="1">
                <a:latin typeface="微软雅黑"/>
                <a:ea typeface="微软雅黑"/>
              </a:rPr>
              <a:t>配置成功（设备已连网</a:t>
            </a:r>
            <a:r>
              <a:rPr sz="1100" b="0" i="0" dirty="0">
                <a:latin typeface="微软雅黑"/>
                <a:ea typeface="微软雅黑"/>
              </a:rPr>
              <a:t>）</a:t>
            </a:r>
            <a:endParaRPr lang="en-US" sz="900" dirty="0"/>
          </a:p>
        </p:txBody>
      </p:sp>
      <p:pic>
        <p:nvPicPr>
          <p:cNvPr id="21" name="Picture 20" descr="net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1005840"/>
            <a:ext cx="2286000" cy="5120640"/>
          </a:xfrm>
          <a:prstGeom prst="rect">
            <a:avLst/>
          </a:prstGeom>
        </p:spPr>
      </p:pic>
      <p:pic>
        <p:nvPicPr>
          <p:cNvPr id="22" name="Picture 21" descr="net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1005840"/>
            <a:ext cx="2286000" cy="5120640"/>
          </a:xfrm>
          <a:prstGeom prst="rect">
            <a:avLst/>
          </a:prstGeom>
        </p:spPr>
      </p:pic>
      <p:pic>
        <p:nvPicPr>
          <p:cNvPr id="23" name="Picture 22" descr="net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0" y="1005840"/>
            <a:ext cx="2286000" cy="5120640"/>
          </a:xfrm>
          <a:prstGeom prst="rect">
            <a:avLst/>
          </a:prstGeom>
        </p:spPr>
      </p:pic>
      <p:pic>
        <p:nvPicPr>
          <p:cNvPr id="24" name="Picture 23" descr="net_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6000" y="1005840"/>
            <a:ext cx="2286000" cy="5120640"/>
          </a:xfrm>
          <a:prstGeom prst="rect">
            <a:avLst/>
          </a:prstGeom>
        </p:spPr>
      </p:pic>
      <p:pic>
        <p:nvPicPr>
          <p:cNvPr id="25" name="Picture 24" descr="net_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9000" y="1005840"/>
            <a:ext cx="2286000" cy="5120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 err="1" smtClean="0">
                <a:solidFill>
                  <a:srgbClr val="1A1A2E"/>
                </a:solidFill>
                <a:latin typeface="微软雅黑"/>
                <a:ea typeface="微软雅黑"/>
              </a:rPr>
              <a:t>肌电校准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altLang="zh-CN" sz="1200" b="0" dirty="0" err="1" smtClean="0">
                <a:solidFill>
                  <a:srgbClr val="1A1A2E"/>
                </a:solidFill>
                <a:latin typeface="微软雅黑"/>
                <a:ea typeface="微软雅黑"/>
              </a:rPr>
              <a:t>录入</a:t>
            </a:r>
            <a:r>
              <a:rPr lang="zh-CN" altLang="en-US" sz="1200" b="0" dirty="0" smtClean="0">
                <a:solidFill>
                  <a:srgbClr val="1A1A2E"/>
                </a:solidFill>
                <a:latin typeface="微软雅黑"/>
                <a:ea typeface="微软雅黑"/>
              </a:rPr>
              <a:t>个人</a:t>
            </a:r>
            <a:r>
              <a:rPr lang="en-US" altLang="zh-CN" sz="1200" b="0" dirty="0" err="1" smtClean="0">
                <a:solidFill>
                  <a:srgbClr val="5A5A6E"/>
                </a:solidFill>
                <a:latin typeface="微软雅黑"/>
                <a:ea typeface="微软雅黑"/>
              </a:rPr>
              <a:t>信息</a:t>
            </a:r>
            <a:r>
              <a:rPr lang="en-US" altLang="zh-CN" sz="1200" b="0" dirty="0" smtClean="0">
                <a:solidFill>
                  <a:srgbClr val="5A5A6E"/>
                </a:solidFill>
                <a:latin typeface="微软雅黑"/>
                <a:ea typeface="微软雅黑"/>
              </a:rPr>
              <a:t> </a:t>
            </a:r>
            <a:r>
              <a:rPr lang="en-US" altLang="zh-CN" sz="1200" b="0" dirty="0">
                <a:solidFill>
                  <a:srgbClr val="5A5A6E"/>
                </a:solidFill>
                <a:latin typeface="微软雅黑"/>
                <a:ea typeface="微软雅黑"/>
              </a:rPr>
              <a:t>→ </a:t>
            </a:r>
            <a:r>
              <a:rPr lang="zh-CN" altLang="en-US" sz="1200" dirty="0" smtClean="0">
                <a:solidFill>
                  <a:srgbClr val="5A5A6E"/>
                </a:solidFill>
                <a:latin typeface="微软雅黑"/>
                <a:ea typeface="微软雅黑"/>
              </a:rPr>
              <a:t>保存后</a:t>
            </a:r>
            <a:r>
              <a:rPr lang="en-US" altLang="zh-CN" sz="1200" b="0" dirty="0" err="1" smtClean="0">
                <a:solidFill>
                  <a:srgbClr val="5A5A6E"/>
                </a:solidFill>
                <a:latin typeface="微软雅黑"/>
                <a:ea typeface="微软雅黑"/>
              </a:rPr>
              <a:t>开始校准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966960" y="182880"/>
            <a:ext cx="1645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540000" y="617220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>
              <a:defRPr sz="1100">
                <a:latin typeface="微软雅黑"/>
                <a:ea typeface="微软雅黑"/>
              </a:defRPr>
            </a:pPr>
            <a:r>
              <a:rPr sz="1100" b="0" i="0" dirty="0" smtClean="0">
                <a:latin typeface="微软雅黑"/>
                <a:ea typeface="微软雅黑"/>
              </a:rPr>
              <a:t>①</a:t>
            </a:r>
            <a:r>
              <a:rPr lang="zh-CN" altLang="en-US" sz="1100" b="0" i="0" dirty="0" smtClean="0">
                <a:latin typeface="微软雅黑"/>
                <a:ea typeface="微软雅黑"/>
              </a:rPr>
              <a:t>肌电校准页面</a:t>
            </a:r>
            <a:endParaRPr lang="en-US" altLang="zh-CN" sz="900" dirty="0"/>
          </a:p>
        </p:txBody>
      </p:sp>
      <p:sp>
        <p:nvSpPr>
          <p:cNvPr id="9" name="Text 5"/>
          <p:cNvSpPr/>
          <p:nvPr/>
        </p:nvSpPr>
        <p:spPr>
          <a:xfrm>
            <a:off x="7366000" y="617220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>
              <a:defRPr sz="1100">
                <a:latin typeface="微软雅黑"/>
                <a:ea typeface="微软雅黑"/>
              </a:defRPr>
            </a:pPr>
            <a:r>
              <a:rPr sz="1100" b="0" i="0" dirty="0" smtClean="0">
                <a:latin typeface="微软雅黑"/>
                <a:ea typeface="微软雅黑"/>
              </a:rPr>
              <a:t>②</a:t>
            </a:r>
            <a:r>
              <a:rPr lang="zh-CN" altLang="en-US" sz="1100" b="0" i="0" dirty="0" smtClean="0">
                <a:latin typeface="微软雅黑"/>
                <a:ea typeface="微软雅黑"/>
              </a:rPr>
              <a:t>录入个人信息</a:t>
            </a:r>
            <a:endParaRPr lang="en-US" sz="900" dirty="0"/>
          </a:p>
        </p:txBody>
      </p:sp>
      <p:pic>
        <p:nvPicPr>
          <p:cNvPr id="11" name="Picture 10" descr="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1005840"/>
            <a:ext cx="2286000" cy="5120640"/>
          </a:xfrm>
          <a:prstGeom prst="rect">
            <a:avLst/>
          </a:prstGeom>
        </p:spPr>
      </p:pic>
      <p:pic>
        <p:nvPicPr>
          <p:cNvPr id="12" name="Picture 11" descr="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0" y="1005840"/>
            <a:ext cx="2286000" cy="5120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 err="1">
                <a:solidFill>
                  <a:srgbClr val="1A1A2E"/>
                </a:solidFill>
                <a:latin typeface="微软雅黑"/>
                <a:ea typeface="微软雅黑"/>
              </a:rPr>
              <a:t>肌电校准</a:t>
            </a:r>
            <a:r>
              <a:rPr lang="en-US" sz="2400" b="1" dirty="0">
                <a:solidFill>
                  <a:srgbClr val="1A1A2E"/>
                </a:solidFill>
                <a:latin typeface="微软雅黑"/>
                <a:ea typeface="微软雅黑"/>
              </a:rPr>
              <a:t> </a:t>
            </a:r>
            <a:endParaRPr lang="en-US" altLang="zh-CN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altLang="zh-CN" sz="1200" b="0" dirty="0">
                <a:solidFill>
                  <a:srgbClr val="5A5A6E"/>
                </a:solidFill>
                <a:latin typeface="微软雅黑"/>
                <a:ea typeface="微软雅黑"/>
              </a:rPr>
              <a:t>静息态采集（10秒） → </a:t>
            </a:r>
            <a:r>
              <a:rPr lang="en-US" altLang="zh-CN" sz="1200" b="0" dirty="0" smtClean="0">
                <a:solidFill>
                  <a:srgbClr val="5A5A6E"/>
                </a:solidFill>
                <a:latin typeface="微软雅黑"/>
                <a:ea typeface="微软雅黑"/>
              </a:rPr>
              <a:t>收缩采集</a:t>
            </a:r>
            <a:r>
              <a:rPr lang="en-US" altLang="zh-CN" sz="1200" b="0" dirty="0">
                <a:solidFill>
                  <a:srgbClr val="5A5A6E"/>
                </a:solidFill>
                <a:latin typeface="微软雅黑"/>
                <a:ea typeface="微软雅黑"/>
              </a:rPr>
              <a:t>（15秒） → 校准通过保存数据 → 进入实时监测</a:t>
            </a:r>
            <a:endParaRPr lang="en-US" altLang="zh-CN" sz="1200" dirty="0"/>
          </a:p>
          <a:p>
            <a:endParaRPr lang="en-US" altLang="zh-CN" sz="12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966960" y="182880"/>
            <a:ext cx="1645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9904" y="617220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>
              <a:defRPr sz="1100">
                <a:latin typeface="微软雅黑"/>
                <a:ea typeface="微软雅黑"/>
              </a:defRPr>
            </a:pPr>
            <a:r>
              <a:rPr sz="1100" b="0" i="0" dirty="0" smtClean="0">
                <a:latin typeface="微软雅黑"/>
                <a:ea typeface="微软雅黑"/>
              </a:rPr>
              <a:t>①</a:t>
            </a:r>
            <a:r>
              <a:rPr lang="zh-CN" altLang="en-US" sz="1100" b="0" i="0" dirty="0" smtClean="0">
                <a:latin typeface="微软雅黑"/>
                <a:ea typeface="微软雅黑"/>
              </a:rPr>
              <a:t>静息态采集</a:t>
            </a:r>
            <a:endParaRPr lang="en-US" altLang="zh-CN" sz="900" dirty="0"/>
          </a:p>
        </p:txBody>
      </p:sp>
      <p:sp>
        <p:nvSpPr>
          <p:cNvPr id="9" name="Text 5"/>
          <p:cNvSpPr/>
          <p:nvPr/>
        </p:nvSpPr>
        <p:spPr>
          <a:xfrm>
            <a:off x="3504895" y="617220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 sz="1100">
                <a:latin typeface="微软雅黑"/>
                <a:ea typeface="微软雅黑"/>
              </a:defRPr>
            </a:pPr>
            <a:r>
              <a:rPr sz="1100" b="0" i="0" dirty="0" smtClean="0">
                <a:latin typeface="微软雅黑"/>
                <a:ea typeface="微软雅黑"/>
              </a:rPr>
              <a:t>②</a:t>
            </a:r>
            <a:r>
              <a:rPr lang="zh-CN" altLang="en-US" sz="1100" b="0" i="0" dirty="0" smtClean="0">
                <a:latin typeface="微软雅黑"/>
                <a:ea typeface="微软雅黑"/>
              </a:rPr>
              <a:t>静息态采集完成</a:t>
            </a:r>
            <a:endParaRPr lang="en-US" sz="900" dirty="0"/>
          </a:p>
        </p:txBody>
      </p:sp>
      <p:sp>
        <p:nvSpPr>
          <p:cNvPr id="13" name="Text 4"/>
          <p:cNvSpPr/>
          <p:nvPr/>
        </p:nvSpPr>
        <p:spPr>
          <a:xfrm>
            <a:off x="6400800" y="617220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>
              <a:defRPr sz="1100">
                <a:latin typeface="微软雅黑"/>
                <a:ea typeface="微软雅黑"/>
              </a:defRPr>
            </a:pPr>
            <a:r>
              <a:rPr sz="1100" b="0" i="0" dirty="0" smtClean="0">
                <a:latin typeface="微软雅黑"/>
                <a:ea typeface="微软雅黑"/>
              </a:rPr>
              <a:t>③</a:t>
            </a:r>
            <a:r>
              <a:rPr lang="zh-CN" altLang="en-US" sz="1100" b="0" i="0" dirty="0" smtClean="0">
                <a:latin typeface="微软雅黑"/>
                <a:ea typeface="微软雅黑"/>
              </a:rPr>
              <a:t>收缩采集</a:t>
            </a:r>
            <a:endParaRPr lang="en-US" sz="900" dirty="0"/>
          </a:p>
        </p:txBody>
      </p:sp>
      <p:sp>
        <p:nvSpPr>
          <p:cNvPr id="15" name="Text 5"/>
          <p:cNvSpPr/>
          <p:nvPr/>
        </p:nvSpPr>
        <p:spPr>
          <a:xfrm>
            <a:off x="9296704" y="617220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 sz="1100">
                <a:latin typeface="微软雅黑"/>
                <a:ea typeface="微软雅黑"/>
              </a:defRPr>
            </a:pPr>
            <a:r>
              <a:rPr sz="1100" b="0" i="0" dirty="0" smtClean="0">
                <a:latin typeface="微软雅黑"/>
                <a:ea typeface="微软雅黑"/>
              </a:rPr>
              <a:t>④</a:t>
            </a:r>
            <a:r>
              <a:rPr sz="1100" b="0" i="0" dirty="0" err="1">
                <a:latin typeface="微软雅黑" panose="02010600030101010101" pitchFamily="2" charset="-122"/>
                <a:ea typeface="微软雅黑" panose="02010600030101010101" pitchFamily="2" charset="-122"/>
              </a:rPr>
              <a:t>校准</a:t>
            </a:r>
            <a:r>
              <a:rPr lang="zh-CN" altLang="en-US" sz="1100" b="0" i="0" dirty="0">
                <a:latin typeface="微软雅黑"/>
                <a:ea typeface="微软雅黑"/>
              </a:rPr>
              <a:t>结果</a:t>
            </a:r>
            <a:r>
              <a:rPr lang="zh-CN" altLang="en-US" sz="1100" b="0" i="0" dirty="0" smtClean="0">
                <a:latin typeface="微软雅黑"/>
                <a:ea typeface="微软雅黑"/>
              </a:rPr>
              <a:t>提示保存</a:t>
            </a:r>
            <a:endParaRPr lang="en-US" sz="900" dirty="0"/>
          </a:p>
        </p:txBody>
      </p:sp>
      <p:pic>
        <p:nvPicPr>
          <p:cNvPr id="21" name="Picture 20" descr="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4" y="1005840"/>
            <a:ext cx="2286000" cy="5120640"/>
          </a:xfrm>
          <a:prstGeom prst="rect">
            <a:avLst/>
          </a:prstGeom>
        </p:spPr>
      </p:pic>
      <p:pic>
        <p:nvPicPr>
          <p:cNvPr id="22" name="Picture 21" descr="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4895" y="1005840"/>
            <a:ext cx="2286000" cy="5120640"/>
          </a:xfrm>
          <a:prstGeom prst="rect">
            <a:avLst/>
          </a:prstGeom>
        </p:spPr>
      </p:pic>
      <p:pic>
        <p:nvPicPr>
          <p:cNvPr id="23" name="Picture 22" descr="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005840"/>
            <a:ext cx="2286000" cy="5120640"/>
          </a:xfrm>
          <a:prstGeom prst="rect">
            <a:avLst/>
          </a:prstGeom>
        </p:spPr>
      </p:pic>
      <p:pic>
        <p:nvPicPr>
          <p:cNvPr id="24" name="Picture 23" descr="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6704" y="1005840"/>
            <a:ext cx="2286000" cy="5120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A1A2E"/>
                </a:solidFill>
                <a:latin typeface="微软雅黑"/>
                <a:ea typeface="微软雅黑"/>
              </a:rPr>
              <a:t>实时监测</a:t>
            </a:r>
            <a:r>
              <a:rPr lang="en-US" sz="2400" b="1" dirty="0">
                <a:solidFill>
                  <a:srgbClr val="1A1A2E"/>
                </a:solidFill>
                <a:latin typeface="微软雅黑"/>
                <a:ea typeface="微软雅黑"/>
              </a:rPr>
              <a:t> 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zh-CN" altLang="en-US" sz="1200" b="0" dirty="0" smtClean="0">
                <a:solidFill>
                  <a:srgbClr val="5A5A6E"/>
                </a:solidFill>
                <a:latin typeface="微软雅黑"/>
                <a:ea typeface="微软雅黑"/>
              </a:rPr>
              <a:t>未佩戴：任何数据无意义</a:t>
            </a:r>
            <a:r>
              <a:rPr lang="en-US" altLang="zh-CN" sz="1200" dirty="0">
                <a:solidFill>
                  <a:srgbClr val="5A5A6E"/>
                </a:solidFill>
                <a:latin typeface="微软雅黑"/>
                <a:ea typeface="微软雅黑"/>
              </a:rPr>
              <a:t>（</a:t>
            </a:r>
            <a:r>
              <a:rPr lang="en-US" altLang="zh-CN" sz="1200" dirty="0" smtClean="0">
                <a:solidFill>
                  <a:srgbClr val="5A5A6E"/>
                </a:solidFill>
                <a:latin typeface="微软雅黑"/>
                <a:ea typeface="微软雅黑"/>
              </a:rPr>
              <a:t>⚠</a:t>
            </a:r>
            <a:r>
              <a:rPr lang="zh-CN" altLang="en-US" sz="1200" dirty="0" smtClean="0">
                <a:solidFill>
                  <a:srgbClr val="5A5A6E"/>
                </a:solidFill>
                <a:latin typeface="微软雅黑"/>
                <a:ea typeface="微软雅黑"/>
              </a:rPr>
              <a:t>橙</a:t>
            </a:r>
            <a:r>
              <a:rPr lang="en-US" altLang="zh-CN" sz="1200" dirty="0" err="1" smtClean="0">
                <a:solidFill>
                  <a:srgbClr val="5A5A6E"/>
                </a:solidFill>
                <a:latin typeface="微软雅黑"/>
                <a:ea typeface="微软雅黑"/>
              </a:rPr>
              <a:t>色警告提示</a:t>
            </a:r>
            <a:r>
              <a:rPr lang="en-US" altLang="zh-CN" sz="1200" dirty="0" smtClean="0">
                <a:solidFill>
                  <a:srgbClr val="5A5A6E"/>
                </a:solidFill>
                <a:latin typeface="微软雅黑"/>
                <a:ea typeface="微软雅黑"/>
              </a:rPr>
              <a:t>）</a:t>
            </a:r>
            <a:r>
              <a:rPr lang="zh-CN" altLang="en-US" sz="1200" b="0" dirty="0" smtClean="0">
                <a:solidFill>
                  <a:srgbClr val="5A5A6E"/>
                </a:solidFill>
                <a:latin typeface="微软雅黑"/>
                <a:ea typeface="微软雅黑"/>
              </a:rPr>
              <a:t> </a:t>
            </a:r>
            <a:r>
              <a:rPr lang="en-US" altLang="zh-CN" sz="1200" dirty="0" smtClean="0">
                <a:solidFill>
                  <a:srgbClr val="5A5A6E"/>
                </a:solidFill>
                <a:latin typeface="微软雅黑"/>
                <a:ea typeface="微软雅黑"/>
              </a:rPr>
              <a:t>| </a:t>
            </a:r>
            <a:r>
              <a:rPr lang="en-US" sz="1200" b="0" dirty="0" err="1" smtClean="0">
                <a:solidFill>
                  <a:srgbClr val="5A5A6E"/>
                </a:solidFill>
                <a:latin typeface="微软雅黑"/>
                <a:ea typeface="微软雅黑"/>
              </a:rPr>
              <a:t>未校准：仅RMS</a:t>
            </a:r>
            <a:r>
              <a:rPr lang="en-US" sz="1200" b="0" dirty="0" smtClean="0">
                <a:solidFill>
                  <a:srgbClr val="5A5A6E"/>
                </a:solidFill>
                <a:latin typeface="微软雅黑"/>
                <a:ea typeface="微软雅黑"/>
              </a:rPr>
              <a:t>/MDF</a:t>
            </a:r>
            <a:r>
              <a:rPr lang="zh-CN" altLang="en-US" sz="1200" b="0" dirty="0" smtClean="0">
                <a:solidFill>
                  <a:srgbClr val="5A5A6E"/>
                </a:solidFill>
                <a:latin typeface="微软雅黑"/>
                <a:ea typeface="微软雅黑"/>
              </a:rPr>
              <a:t>有效</a:t>
            </a:r>
            <a:r>
              <a:rPr lang="en-US" altLang="zh-CN" sz="1200" dirty="0">
                <a:solidFill>
                  <a:srgbClr val="5A5A6E"/>
                </a:solidFill>
                <a:latin typeface="微软雅黑"/>
                <a:ea typeface="微软雅黑"/>
              </a:rPr>
              <a:t>（⚠</a:t>
            </a:r>
            <a:r>
              <a:rPr lang="en-US" altLang="zh-CN" sz="1200" dirty="0" err="1">
                <a:solidFill>
                  <a:srgbClr val="5A5A6E"/>
                </a:solidFill>
                <a:latin typeface="微软雅黑"/>
                <a:ea typeface="微软雅黑"/>
              </a:rPr>
              <a:t>红色警告提示</a:t>
            </a:r>
            <a:r>
              <a:rPr lang="en-US" altLang="zh-CN" sz="1200" dirty="0" smtClean="0">
                <a:solidFill>
                  <a:srgbClr val="5A5A6E"/>
                </a:solidFill>
                <a:latin typeface="微软雅黑"/>
                <a:ea typeface="微软雅黑"/>
              </a:rPr>
              <a:t>）</a:t>
            </a:r>
            <a:r>
              <a:rPr lang="zh-CN" altLang="en-US" sz="1200" b="0" dirty="0" smtClean="0">
                <a:solidFill>
                  <a:srgbClr val="5A5A6E"/>
                </a:solidFill>
                <a:latin typeface="微软雅黑"/>
                <a:ea typeface="微软雅黑"/>
              </a:rPr>
              <a:t> </a:t>
            </a:r>
            <a:r>
              <a:rPr lang="en-US" altLang="zh-CN" sz="1200" dirty="0" smtClean="0">
                <a:solidFill>
                  <a:srgbClr val="5A5A6E"/>
                </a:solidFill>
                <a:latin typeface="微软雅黑"/>
                <a:ea typeface="微软雅黑"/>
              </a:rPr>
              <a:t>| </a:t>
            </a:r>
            <a:r>
              <a:rPr lang="en-US" altLang="zh-CN" sz="1200" dirty="0" err="1" smtClean="0">
                <a:solidFill>
                  <a:srgbClr val="5A5A6E"/>
                </a:solidFill>
                <a:latin typeface="微软雅黑"/>
                <a:ea typeface="微软雅黑"/>
              </a:rPr>
              <a:t>已校准：显示个性化疲劳度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966960" y="182880"/>
            <a:ext cx="1645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/>
                <a:ea typeface="微软雅黑"/>
              </a:rPr>
              <a:t>04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27101" y="617220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>
              <a:defRPr sz="1100">
                <a:latin typeface="微软雅黑"/>
                <a:ea typeface="微软雅黑"/>
              </a:defRPr>
            </a:pPr>
            <a:r>
              <a:rPr sz="1100" b="0" i="0" dirty="0">
                <a:latin typeface="微软雅黑"/>
                <a:ea typeface="微软雅黑"/>
              </a:rPr>
              <a:t>①</a:t>
            </a:r>
            <a:r>
              <a:rPr sz="1100" b="0" i="0" dirty="0" err="1" smtClean="0">
                <a:latin typeface="微软雅黑"/>
                <a:ea typeface="微软雅黑"/>
              </a:rPr>
              <a:t>未校准</a:t>
            </a:r>
            <a:r>
              <a:rPr lang="zh-CN" altLang="en-US" sz="1100" b="0" i="0" dirty="0" smtClean="0">
                <a:latin typeface="微软雅黑"/>
                <a:ea typeface="微软雅黑"/>
              </a:rPr>
              <a:t>未佩戴</a:t>
            </a:r>
            <a:r>
              <a:rPr sz="1100" b="0" i="0" dirty="0" err="1" smtClean="0">
                <a:latin typeface="微软雅黑"/>
                <a:ea typeface="微软雅黑"/>
              </a:rPr>
              <a:t>状态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953304" y="617220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>
              <a:defRPr sz="1100">
                <a:latin typeface="微软雅黑"/>
                <a:ea typeface="微软雅黑"/>
              </a:defRPr>
            </a:pPr>
            <a:r>
              <a:rPr sz="1100" b="0" i="0" dirty="0" smtClean="0">
                <a:latin typeface="微软雅黑"/>
                <a:ea typeface="微软雅黑"/>
              </a:rPr>
              <a:t>③</a:t>
            </a:r>
            <a:r>
              <a:rPr lang="zh-CN" altLang="en-US" sz="1100" b="0" i="0" dirty="0" smtClean="0">
                <a:latin typeface="微软雅黑"/>
                <a:ea typeface="微软雅黑"/>
              </a:rPr>
              <a:t>已校准未佩戴状态</a:t>
            </a:r>
            <a:endParaRPr lang="en-US" sz="900" dirty="0"/>
          </a:p>
        </p:txBody>
      </p:sp>
      <p:sp>
        <p:nvSpPr>
          <p:cNvPr id="13" name="TextBox 12"/>
          <p:cNvSpPr txBox="1"/>
          <p:nvPr/>
        </p:nvSpPr>
        <p:spPr>
          <a:xfrm>
            <a:off x="2540203" y="61722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100">
                <a:latin typeface="微软雅黑"/>
                <a:ea typeface="微软雅黑"/>
              </a:defRPr>
            </a:pPr>
            <a:r>
              <a:rPr sz="1100" b="0" i="0" dirty="0" smtClean="0">
                <a:latin typeface="微软雅黑"/>
                <a:ea typeface="微软雅黑"/>
              </a:rPr>
              <a:t>②</a:t>
            </a:r>
            <a:r>
              <a:rPr lang="zh-CN" altLang="en-US" sz="1100" b="0" i="0" dirty="0" smtClean="0">
                <a:latin typeface="微软雅黑"/>
                <a:ea typeface="微软雅黑"/>
              </a:rPr>
              <a:t>未</a:t>
            </a:r>
            <a:r>
              <a:rPr sz="1100" b="0" i="0" dirty="0" err="1" smtClean="0">
                <a:latin typeface="微软雅黑"/>
                <a:ea typeface="微软雅黑"/>
              </a:rPr>
              <a:t>校准</a:t>
            </a:r>
            <a:r>
              <a:rPr lang="zh-CN" altLang="en-US" sz="1100" b="0" i="0" dirty="0" smtClean="0">
                <a:latin typeface="微软雅黑"/>
                <a:ea typeface="微软雅黑"/>
              </a:rPr>
              <a:t>已佩戴</a:t>
            </a:r>
            <a:r>
              <a:rPr sz="1100" b="0" i="0" dirty="0" err="1" smtClean="0">
                <a:latin typeface="微软雅黑"/>
                <a:ea typeface="微软雅黑"/>
              </a:rPr>
              <a:t>状态</a:t>
            </a:r>
            <a:endParaRPr lang="en-US" altLang="zh-CN" sz="900" dirty="0"/>
          </a:p>
        </p:txBody>
      </p:sp>
      <p:pic>
        <p:nvPicPr>
          <p:cNvPr id="14" name="Picture 13" descr="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406" y="1005840"/>
            <a:ext cx="2286000" cy="5120640"/>
          </a:xfrm>
          <a:prstGeom prst="rect">
            <a:avLst/>
          </a:prstGeom>
        </p:spPr>
      </p:pic>
      <p:pic>
        <p:nvPicPr>
          <p:cNvPr id="15" name="Picture 14" descr="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304" y="1005840"/>
            <a:ext cx="2286000" cy="5120640"/>
          </a:xfrm>
          <a:prstGeom prst="rect">
            <a:avLst/>
          </a:prstGeom>
        </p:spPr>
      </p:pic>
      <p:pic>
        <p:nvPicPr>
          <p:cNvPr id="16" name="Picture 15" descr="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101" y="1005840"/>
            <a:ext cx="2286000" cy="5120640"/>
          </a:xfrm>
          <a:prstGeom prst="rect">
            <a:avLst/>
          </a:prstGeom>
        </p:spPr>
      </p:pic>
      <p:pic>
        <p:nvPicPr>
          <p:cNvPr id="17" name="Picture 16" descr="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0203" y="1005840"/>
            <a:ext cx="2286000" cy="51206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66406" y="617220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>
                <a:latin typeface="微软雅黑"/>
                <a:ea typeface="微软雅黑"/>
              </a:defRPr>
            </a:pPr>
            <a:r>
              <a:rPr sz="1100" b="0" i="0" dirty="0" smtClean="0">
                <a:latin typeface="微软雅黑"/>
                <a:ea typeface="微软雅黑"/>
              </a:rPr>
              <a:t>④</a:t>
            </a:r>
            <a:r>
              <a:rPr lang="zh-CN" altLang="en-US" sz="1100" b="0" i="0" dirty="0" smtClean="0">
                <a:latin typeface="微软雅黑"/>
                <a:ea typeface="微软雅黑"/>
              </a:rPr>
              <a:t>已校准已佩戴状态</a:t>
            </a:r>
            <a:endParaRPr dirty="0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8593" y="1005840"/>
            <a:ext cx="2286000" cy="51206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774936" y="61722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zh-CN" altLang="en-US" sz="1100" b="0" i="0" dirty="0">
                <a:latin typeface="微软雅黑"/>
                <a:ea typeface="微软雅黑"/>
              </a:rPr>
              <a:t>⑤已校准已佩戴</a:t>
            </a:r>
            <a:r>
              <a:rPr lang="zh-CN" altLang="en-US" sz="1100" b="0" i="0" dirty="0" smtClean="0">
                <a:latin typeface="微软雅黑"/>
                <a:ea typeface="微软雅黑"/>
              </a:rPr>
              <a:t>状态</a:t>
            </a:r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A1A2E"/>
                </a:solidFill>
                <a:latin typeface="微软雅黑"/>
                <a:ea typeface="微软雅黑"/>
              </a:rPr>
              <a:t>数据分析</a:t>
            </a:r>
            <a:r>
              <a:rPr lang="en-US" sz="2400" b="1" dirty="0">
                <a:solidFill>
                  <a:srgbClr val="1A1A2E"/>
                </a:solidFill>
                <a:latin typeface="微软雅黑"/>
                <a:ea typeface="微软雅黑"/>
              </a:rPr>
              <a:t> 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11247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200" b="0" dirty="0" err="1" smtClean="0">
                <a:solidFill>
                  <a:srgbClr val="5A5A6E"/>
                </a:solidFill>
                <a:latin typeface="微软雅黑"/>
                <a:ea typeface="微软雅黑"/>
              </a:rPr>
              <a:t>时间筛选</a:t>
            </a:r>
            <a:r>
              <a:rPr lang="en-US" sz="1200" b="0" dirty="0" err="1">
                <a:solidFill>
                  <a:srgbClr val="5A5A6E"/>
                </a:solidFill>
                <a:latin typeface="微软雅黑"/>
                <a:ea typeface="微软雅黑"/>
              </a:rPr>
              <a:t>（今天</a:t>
            </a:r>
            <a:r>
              <a:rPr lang="en-US" sz="1200" b="0" dirty="0">
                <a:solidFill>
                  <a:srgbClr val="5A5A6E"/>
                </a:solidFill>
                <a:latin typeface="微软雅黑"/>
                <a:ea typeface="微软雅黑"/>
              </a:rPr>
              <a:t>/昨天/最近3天/最近7天/最近30天/自定义） → 疲劳度趋势图表（ 疲劳度占比、峰值标记、智能建议、波形显示、颜色渐变填充 ） → CSV原始数据导出 → </a:t>
            </a:r>
            <a:r>
              <a:rPr lang="zh-CN" altLang="en-US" sz="1200" b="0" dirty="0" smtClean="0">
                <a:solidFill>
                  <a:srgbClr val="5A5A6E"/>
                </a:solidFill>
                <a:latin typeface="微软雅黑"/>
                <a:ea typeface="微软雅黑"/>
              </a:rPr>
              <a:t>原始数据转发</a:t>
            </a:r>
            <a:r>
              <a:rPr lang="en-US" sz="1200" b="0" dirty="0" err="1" smtClean="0">
                <a:solidFill>
                  <a:srgbClr val="5A5A6E"/>
                </a:solidFill>
                <a:latin typeface="微软雅黑"/>
                <a:ea typeface="微软雅黑"/>
              </a:rPr>
              <a:t>微信</a:t>
            </a:r>
            <a:endParaRPr lang="en-US" altLang="zh-CN" sz="12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966960" y="182880"/>
            <a:ext cx="1645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/>
                <a:ea typeface="微软雅黑"/>
              </a:rPr>
              <a:t>05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9600" y="617220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>
              <a:defRPr sz="1100">
                <a:latin typeface="微软雅黑"/>
                <a:ea typeface="微软雅黑"/>
              </a:defRPr>
            </a:pPr>
            <a:r>
              <a:rPr sz="1100" b="0" i="0" dirty="0" smtClean="0">
                <a:latin typeface="微软雅黑"/>
                <a:ea typeface="微软雅黑"/>
              </a:rPr>
              <a:t>①</a:t>
            </a:r>
            <a:r>
              <a:rPr lang="zh-CN" altLang="en-US" sz="1100" b="0" i="0" dirty="0" smtClean="0">
                <a:latin typeface="微软雅黑"/>
                <a:ea typeface="微软雅黑"/>
              </a:rPr>
              <a:t>查询今日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3505200" y="617220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>
              <a:defRPr sz="1100">
                <a:latin typeface="微软雅黑"/>
                <a:ea typeface="微软雅黑"/>
              </a:defRPr>
            </a:pPr>
            <a:r>
              <a:rPr sz="1100" b="0" i="0" dirty="0" smtClean="0">
                <a:latin typeface="微软雅黑"/>
                <a:ea typeface="微软雅黑"/>
              </a:rPr>
              <a:t>②</a:t>
            </a:r>
            <a:r>
              <a:rPr lang="zh-CN" altLang="en-US" sz="1100" b="0" i="0" dirty="0" smtClean="0">
                <a:latin typeface="微软雅黑"/>
                <a:ea typeface="微软雅黑"/>
              </a:rPr>
              <a:t>查询最近</a:t>
            </a:r>
            <a:r>
              <a:rPr lang="en-US" altLang="zh-CN" sz="1100" b="0" i="0" dirty="0" smtClean="0">
                <a:latin typeface="微软雅黑"/>
                <a:ea typeface="微软雅黑"/>
              </a:rPr>
              <a:t>30</a:t>
            </a:r>
            <a:r>
              <a:rPr lang="zh-CN" altLang="en-US" sz="1100" b="0" i="0" dirty="0" smtClean="0">
                <a:latin typeface="微软雅黑"/>
                <a:ea typeface="微软雅黑"/>
              </a:rPr>
              <a:t>天</a:t>
            </a:r>
            <a:endParaRPr lang="en-US" sz="900" dirty="0"/>
          </a:p>
        </p:txBody>
      </p:sp>
      <p:sp>
        <p:nvSpPr>
          <p:cNvPr id="11" name="Text 4"/>
          <p:cNvSpPr/>
          <p:nvPr/>
        </p:nvSpPr>
        <p:spPr>
          <a:xfrm>
            <a:off x="6400800" y="617220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>
              <a:defRPr sz="1100">
                <a:latin typeface="微软雅黑"/>
                <a:ea typeface="微软雅黑"/>
              </a:defRPr>
            </a:pPr>
            <a:r>
              <a:rPr sz="1100" b="0" i="0" dirty="0" smtClean="0">
                <a:latin typeface="微软雅黑"/>
                <a:ea typeface="微软雅黑"/>
              </a:rPr>
              <a:t>③</a:t>
            </a:r>
            <a:r>
              <a:rPr lang="zh-CN" altLang="en-US" sz="1100" b="0" i="0" dirty="0" smtClean="0">
                <a:latin typeface="微软雅黑"/>
                <a:ea typeface="微软雅黑"/>
              </a:rPr>
              <a:t>导出今日数据</a:t>
            </a:r>
            <a:endParaRPr lang="en-US" sz="900" dirty="0"/>
          </a:p>
        </p:txBody>
      </p:sp>
      <p:sp>
        <p:nvSpPr>
          <p:cNvPr id="13" name="Text 5"/>
          <p:cNvSpPr/>
          <p:nvPr/>
        </p:nvSpPr>
        <p:spPr>
          <a:xfrm>
            <a:off x="9296400" y="617220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>
              <a:defRPr sz="1100">
                <a:latin typeface="微软雅黑"/>
                <a:ea typeface="微软雅黑"/>
              </a:defRPr>
            </a:pPr>
            <a:r>
              <a:rPr sz="1100" b="0" i="0" dirty="0" smtClean="0">
                <a:latin typeface="微软雅黑"/>
                <a:ea typeface="微软雅黑"/>
              </a:rPr>
              <a:t>④</a:t>
            </a:r>
            <a:r>
              <a:rPr lang="zh-CN" altLang="en-US" sz="1100" b="0" i="0" dirty="0" smtClean="0">
                <a:latin typeface="微软雅黑"/>
                <a:ea typeface="微软雅黑"/>
              </a:rPr>
              <a:t>数据发送到微信</a:t>
            </a:r>
            <a:endParaRPr lang="en-US" sz="900" dirty="0"/>
          </a:p>
        </p:txBody>
      </p:sp>
      <p:pic>
        <p:nvPicPr>
          <p:cNvPr id="14" name="Picture 13" descr="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005840"/>
            <a:ext cx="2286000" cy="5120640"/>
          </a:xfrm>
          <a:prstGeom prst="rect">
            <a:avLst/>
          </a:prstGeom>
        </p:spPr>
      </p:pic>
      <p:pic>
        <p:nvPicPr>
          <p:cNvPr id="15" name="Picture 14" descr="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5200" y="1005840"/>
            <a:ext cx="2286000" cy="5120640"/>
          </a:xfrm>
          <a:prstGeom prst="rect">
            <a:avLst/>
          </a:prstGeom>
        </p:spPr>
      </p:pic>
      <p:pic>
        <p:nvPicPr>
          <p:cNvPr id="16" name="Picture 15" descr="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005840"/>
            <a:ext cx="2286000" cy="5120640"/>
          </a:xfrm>
          <a:prstGeom prst="rect">
            <a:avLst/>
          </a:prstGeom>
        </p:spPr>
      </p:pic>
      <p:pic>
        <p:nvPicPr>
          <p:cNvPr id="17" name="Picture 16" descr="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6400" y="1005840"/>
            <a:ext cx="22860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 smtClean="0">
                <a:solidFill>
                  <a:srgbClr val="1A1A2E"/>
                </a:solidFill>
                <a:latin typeface="微软雅黑"/>
                <a:ea typeface="微软雅黑"/>
              </a:rPr>
              <a:t>数据分析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altLang="zh-CN" sz="1200" b="0" dirty="0" err="1" smtClean="0">
                <a:solidFill>
                  <a:srgbClr val="1A1A2E"/>
                </a:solidFill>
                <a:latin typeface="微软雅黑"/>
                <a:ea typeface="微软雅黑"/>
              </a:rPr>
              <a:t>原始数据</a:t>
            </a:r>
            <a:r>
              <a:rPr lang="zh-CN" altLang="en-US" sz="1200" b="0" dirty="0" smtClean="0">
                <a:solidFill>
                  <a:srgbClr val="1A1A2E"/>
                </a:solidFill>
                <a:latin typeface="微软雅黑"/>
                <a:ea typeface="微软雅黑"/>
              </a:rPr>
              <a:t>转发微信</a:t>
            </a:r>
            <a:r>
              <a:rPr lang="en-US" altLang="zh-CN" sz="1200" b="0" dirty="0" smtClean="0">
                <a:solidFill>
                  <a:srgbClr val="5A5A6E"/>
                </a:solidFill>
                <a:latin typeface="微软雅黑"/>
                <a:ea typeface="微软雅黑"/>
              </a:rPr>
              <a:t> </a:t>
            </a:r>
            <a:r>
              <a:rPr lang="en-US" altLang="zh-CN" sz="1200" b="0" dirty="0">
                <a:solidFill>
                  <a:srgbClr val="5A5A6E"/>
                </a:solidFill>
                <a:latin typeface="微软雅黑"/>
                <a:ea typeface="微软雅黑"/>
              </a:rPr>
              <a:t>→</a:t>
            </a:r>
            <a:r>
              <a:rPr lang="en-US" altLang="zh-CN" sz="1200" b="0" dirty="0" smtClean="0">
                <a:latin typeface="微软雅黑"/>
                <a:ea typeface="微软雅黑"/>
              </a:rPr>
              <a:t> </a:t>
            </a:r>
            <a:r>
              <a:rPr lang="en-US" sz="1200" b="0" dirty="0" err="1" smtClean="0">
                <a:solidFill>
                  <a:srgbClr val="5A5A6E"/>
                </a:solidFill>
                <a:latin typeface="微软雅黑"/>
                <a:ea typeface="微软雅黑"/>
              </a:rPr>
              <a:t>CSV</a:t>
            </a:r>
            <a:r>
              <a:rPr lang="en-US" sz="1200" b="0" dirty="0" err="1">
                <a:solidFill>
                  <a:srgbClr val="5A5A6E"/>
                </a:solidFill>
                <a:latin typeface="微软雅黑"/>
                <a:ea typeface="微软雅黑"/>
              </a:rPr>
              <a:t>文件内容示例：</a:t>
            </a:r>
            <a:r>
              <a:rPr lang="en-US" sz="1200" b="0" dirty="0" err="1" smtClean="0">
                <a:solidFill>
                  <a:srgbClr val="5A5A6E"/>
                </a:solidFill>
                <a:latin typeface="微软雅黑"/>
                <a:ea typeface="微软雅黑"/>
              </a:rPr>
              <a:t>Date</a:t>
            </a:r>
            <a:r>
              <a:rPr lang="en-US" sz="1200" b="0" dirty="0" smtClean="0">
                <a:solidFill>
                  <a:srgbClr val="5A5A6E"/>
                </a:solidFill>
                <a:latin typeface="微软雅黑"/>
                <a:ea typeface="微软雅黑"/>
              </a:rPr>
              <a:t>/Time/RMS/A</a:t>
            </a:r>
            <a:r>
              <a:rPr lang="en-US" altLang="zh-CN" sz="1200" b="0" dirty="0" smtClean="0">
                <a:solidFill>
                  <a:srgbClr val="5A5A6E"/>
                </a:solidFill>
                <a:latin typeface="微软雅黑"/>
                <a:ea typeface="微软雅黑"/>
              </a:rPr>
              <a:t>ctivation/</a:t>
            </a:r>
            <a:r>
              <a:rPr lang="en-US" sz="1200" b="0" dirty="0" smtClean="0">
                <a:solidFill>
                  <a:srgbClr val="5A5A6E"/>
                </a:solidFill>
                <a:latin typeface="微软雅黑"/>
                <a:ea typeface="微软雅黑"/>
              </a:rPr>
              <a:t>MDF/Fatigue/Quality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966960" y="182880"/>
            <a:ext cx="1645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/>
                <a:ea typeface="微软雅黑"/>
              </a:rPr>
              <a:t>05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242560" y="6172200"/>
            <a:ext cx="4876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>
              <a:defRPr sz="1100">
                <a:latin typeface="微软雅黑"/>
                <a:ea typeface="微软雅黑"/>
              </a:defRPr>
            </a:pPr>
            <a:r>
              <a:rPr lang="zh-CN" altLang="en-US" sz="1100" b="0" i="0" dirty="0">
                <a:latin typeface="微软雅黑"/>
                <a:ea typeface="微软雅黑"/>
              </a:rPr>
              <a:t>⑥原始数据</a:t>
            </a:r>
            <a:r>
              <a:rPr lang="zh-CN" altLang="en-US" sz="1100" b="0" i="0" dirty="0" smtClean="0">
                <a:latin typeface="微软雅黑"/>
                <a:ea typeface="微软雅黑"/>
              </a:rPr>
              <a:t>信息展示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1028700" y="617220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>
              <a:defRPr sz="1100">
                <a:latin typeface="微软雅黑"/>
                <a:ea typeface="微软雅黑"/>
              </a:defRPr>
            </a:pPr>
            <a:r>
              <a:rPr lang="zh-CN" altLang="en-US" sz="1100" b="0" i="0" dirty="0">
                <a:latin typeface="微软雅黑"/>
                <a:ea typeface="微软雅黑"/>
              </a:rPr>
              <a:t>⑤数据</a:t>
            </a:r>
            <a:r>
              <a:rPr lang="zh-CN" altLang="en-US" sz="1100" b="0" i="0" dirty="0" smtClean="0">
                <a:latin typeface="微软雅黑"/>
                <a:ea typeface="微软雅黑"/>
              </a:rPr>
              <a:t>发送到微信</a:t>
            </a:r>
            <a:endParaRPr lang="en-US" sz="900" dirty="0"/>
          </a:p>
        </p:txBody>
      </p:sp>
      <p:pic>
        <p:nvPicPr>
          <p:cNvPr id="11" name="Picture 10" descr="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2560" y="1005840"/>
            <a:ext cx="4876800" cy="5120640"/>
          </a:xfrm>
          <a:prstGeom prst="rect">
            <a:avLst/>
          </a:prstGeom>
        </p:spPr>
      </p:pic>
      <p:pic>
        <p:nvPicPr>
          <p:cNvPr id="12" name="Picture 11" descr="5_blurr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1005840"/>
            <a:ext cx="2286000" cy="5120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326</Words>
  <Application>Microsoft Office PowerPoint</Application>
  <PresentationFormat>宽屏</PresentationFormat>
  <Paragraphs>77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等线</vt:lpstr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小程序操作指南</dc:title>
  <dc:subject>PptxGenJS Presentation</dc:subject>
  <dc:creator>PptxGenJS</dc:creator>
  <cp:lastModifiedBy>Huang Hong (黄洪)</cp:lastModifiedBy>
  <cp:revision>25</cp:revision>
  <dcterms:created xsi:type="dcterms:W3CDTF">2026-07-07T10:04:36Z</dcterms:created>
  <dcterms:modified xsi:type="dcterms:W3CDTF">2026-08-23T13:36:22Z</dcterms:modified>
</cp:coreProperties>
</file>