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3" r:id="rId5"/>
    <p:sldId id="264" r:id="rId6"/>
    <p:sldId id="267" r:id="rId7"/>
    <p:sldId id="269" r:id="rId8"/>
    <p:sldId id="27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40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</a:rPr>
              <a:t>sEMG肌肉疲劳监测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B84D"/>
                </a:solidFill>
              </a:rPr>
              <a:t>小程序操作指南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 smtClean="0">
                <a:solidFill>
                  <a:srgbClr val="1A1A2E"/>
                </a:solidFill>
                <a:latin typeface="微软雅黑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小程序四大核心模块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微软雅黑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网络配置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设备WiFi配网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扫描连接设备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输入WiFi凭证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三步配网流程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设备IP管理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4D"/>
                </a:solidFill>
                <a:latin typeface="微软雅黑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肌电校准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建立个人基准线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录入个人信息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静息态采集（10秒）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最大收缩采集（15秒）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校准结果保存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79FF"/>
                </a:solidFill>
                <a:latin typeface="微软雅黑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实时监测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多维数据实时显示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RMS/MDF/收缩力度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疲劳度百分比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信号质量评分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算法状态指示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微软雅黑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268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数据分析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统计与趋势可视化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多时间筛选维度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疲劳状态统计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趋势图表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CSV数据导出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4D"/>
                </a:solidFill>
              </a:rPr>
              <a:t>💡 提示：首次使用请先完成「网络配置」 → 「肌电校准」，确保算法已校准后再进入实时监测，以获得准确的疲劳度数据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网络配置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8900" y="640080"/>
            <a:ext cx="11523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「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扫描设备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」搜索附近</a:t>
            </a: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 sEMG 设备 → 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连接成功后显示设备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ID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输入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2.4GHz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WiFi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凭证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,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确认配置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等待配网完成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 →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设备已连接WiFi网络，可查看IP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地址并进行管理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02</a:t>
            </a:r>
            <a:endParaRPr lang="en-US" sz="1100" dirty="0"/>
          </a:p>
        </p:txBody>
      </p:sp>
      <p:pic>
        <p:nvPicPr>
          <p:cNvPr id="6" name="Image 0" descr="E:/sEMG_B_Project/docs/pic/网络配置/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3621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21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① 未连接（初始状态）</a:t>
            </a:r>
            <a:endParaRPr lang="en-US" sz="900" dirty="0"/>
          </a:p>
        </p:txBody>
      </p:sp>
      <p:pic>
        <p:nvPicPr>
          <p:cNvPr id="8" name="Image 1" descr="E:/sEMG_B_Project/docs/pic/网络配置/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98139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8139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② 设备已连接</a:t>
            </a:r>
            <a:endParaRPr lang="en-US" sz="900" dirty="0"/>
          </a:p>
        </p:txBody>
      </p:sp>
      <p:pic>
        <p:nvPicPr>
          <p:cNvPr id="10" name="Image 0" descr="E:/sEMG_B_Project/docs/pic/网络配置/3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2657" y="1005840"/>
            <a:ext cx="2286000" cy="51206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842657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③ 输入WiFi SSID 和密码</a:t>
            </a:r>
            <a:endParaRPr lang="en-US" sz="900" dirty="0"/>
          </a:p>
        </p:txBody>
      </p:sp>
      <p:pic>
        <p:nvPicPr>
          <p:cNvPr id="12" name="Image 1" descr="E:/sEMG_B_Project/docs/pic/网络配置/4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23760" y="1005840"/>
            <a:ext cx="2286000" cy="512064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22376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④ 配网进行中（三步指示）</a:t>
            </a:r>
            <a:endParaRPr lang="en-US" sz="900" dirty="0"/>
          </a:p>
        </p:txBody>
      </p:sp>
      <p:pic>
        <p:nvPicPr>
          <p:cNvPr id="14" name="Image 0" descr="E:/sEMG_B_Project/docs/pic/网络配置/5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04863" y="1005840"/>
            <a:ext cx="2286000" cy="51206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9604863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⑤ 配网完成（显示设备IP地址）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肌电校准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</a:rPr>
              <a:t>录入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</a:rPr>
              <a:t>个人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信息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确认开始校准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03</a:t>
            </a:r>
            <a:endParaRPr lang="en-US" sz="1100" dirty="0"/>
          </a:p>
        </p:txBody>
      </p:sp>
      <p:pic>
        <p:nvPicPr>
          <p:cNvPr id="6" name="Image 0" descr="E:/sEMG_B_Project/docs/pic/肌电校准/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0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① </a:t>
            </a:r>
            <a:r>
              <a:rPr lang="zh-CN" altLang="en-US" sz="900" b="0" dirty="0" smtClean="0">
                <a:solidFill>
                  <a:srgbClr val="5A5A6E"/>
                </a:solidFill>
                <a:latin typeface="微软雅黑"/>
              </a:rPr>
              <a:t>肌电</a:t>
            </a:r>
            <a:r>
              <a:rPr lang="en-US" altLang="zh-CN" sz="900" b="0" dirty="0" err="1" smtClean="0">
                <a:solidFill>
                  <a:srgbClr val="5A5A6E"/>
                </a:solidFill>
                <a:latin typeface="微软雅黑"/>
              </a:rPr>
              <a:t>校准主界面</a:t>
            </a:r>
            <a:endParaRPr lang="en-US" altLang="zh-CN" sz="900" dirty="0"/>
          </a:p>
        </p:txBody>
      </p:sp>
      <p:pic>
        <p:nvPicPr>
          <p:cNvPr id="8" name="Image 1" descr="E:/sEMG_B_Project/docs/pic/肌电校准/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0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② </a:t>
            </a:r>
            <a:r>
              <a:rPr lang="en-US" altLang="zh-CN" sz="900" b="0" dirty="0" err="1" smtClean="0">
                <a:solidFill>
                  <a:srgbClr val="5A5A6E"/>
                </a:solidFill>
                <a:latin typeface="微软雅黑"/>
              </a:rPr>
              <a:t>个人信息录入弹窗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肌电校准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alt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静息态采集（10秒） → 最大收缩采集（15秒） → 校准通过保存数据 → 进入实时监测</a:t>
            </a:r>
            <a:endParaRPr lang="en-US" altLang="zh-CN" sz="1200" dirty="0"/>
          </a:p>
          <a:p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03</a:t>
            </a:r>
            <a:endParaRPr lang="en-US" sz="1100" dirty="0"/>
          </a:p>
        </p:txBody>
      </p:sp>
      <p:pic>
        <p:nvPicPr>
          <p:cNvPr id="6" name="Image 0" descr="E:/sEMG_B_Project/docs/pic/肌电校准/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70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77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③ </a:t>
            </a:r>
            <a:r>
              <a:rPr lang="en-US" altLang="zh-CN" sz="900" b="0" dirty="0" err="1">
                <a:solidFill>
                  <a:srgbClr val="5A5A6E"/>
                </a:solidFill>
                <a:latin typeface="微软雅黑"/>
              </a:rPr>
              <a:t>静息态采集进行中</a:t>
            </a:r>
            <a:r>
              <a:rPr lang="en-US" altLang="zh-CN" sz="900" b="0" dirty="0">
                <a:solidFill>
                  <a:srgbClr val="5A5A6E"/>
                </a:solidFill>
                <a:latin typeface="微软雅黑"/>
              </a:rPr>
              <a:t> </a:t>
            </a:r>
            <a:endParaRPr lang="en-US" altLang="zh-CN" sz="900" dirty="0"/>
          </a:p>
        </p:txBody>
      </p:sp>
      <p:pic>
        <p:nvPicPr>
          <p:cNvPr id="8" name="Image 1" descr="E:/sEMG_B_Project/docs/pic/肌电校准/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05710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0571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④ </a:t>
            </a:r>
            <a:r>
              <a:rPr lang="zh-CN" altLang="en-US" sz="900" b="0" dirty="0" smtClean="0">
                <a:solidFill>
                  <a:srgbClr val="5A5A6E"/>
                </a:solidFill>
                <a:latin typeface="微软雅黑"/>
              </a:rPr>
              <a:t>静息态采集完成，准备最大收缩采集</a:t>
            </a:r>
            <a:endParaRPr lang="en-US" sz="900" dirty="0"/>
          </a:p>
        </p:txBody>
      </p:sp>
      <p:pic>
        <p:nvPicPr>
          <p:cNvPr id="12" name="Image 0" descr="E:/sEMG_B_Project/docs/pic/肌电校准/4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46650" y="1005840"/>
            <a:ext cx="2286000" cy="51206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494665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⑤ </a:t>
            </a:r>
            <a:r>
              <a:rPr lang="en-US" altLang="zh-CN" sz="900" b="0" dirty="0" err="1" smtClean="0">
                <a:solidFill>
                  <a:srgbClr val="5A5A6E"/>
                </a:solidFill>
                <a:latin typeface="微软雅黑"/>
              </a:rPr>
              <a:t>最大收缩采集进行中</a:t>
            </a:r>
            <a:endParaRPr lang="en-US" sz="900" dirty="0"/>
          </a:p>
        </p:txBody>
      </p:sp>
      <p:pic>
        <p:nvPicPr>
          <p:cNvPr id="14" name="Image 1" descr="E:/sEMG_B_Project/docs/pic/肌电校准/5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87590" y="1005840"/>
            <a:ext cx="2286000" cy="51206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738759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⑥ </a:t>
            </a:r>
            <a:r>
              <a:rPr lang="zh-CN" altLang="en-US" sz="900" b="0" dirty="0" smtClean="0">
                <a:solidFill>
                  <a:srgbClr val="5A5A6E"/>
                </a:solidFill>
                <a:latin typeface="微软雅黑"/>
              </a:rPr>
              <a:t>校准完成提示保存</a:t>
            </a:r>
            <a:endParaRPr lang="en-US" sz="900" dirty="0"/>
          </a:p>
        </p:txBody>
      </p:sp>
      <p:pic>
        <p:nvPicPr>
          <p:cNvPr id="16" name="Image 0" descr="E:/sEMG_B_Project/docs/pic/肌电校准/6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28530" y="1005840"/>
            <a:ext cx="2286000" cy="512064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982853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⑦ </a:t>
            </a:r>
            <a:r>
              <a:rPr lang="zh-CN" altLang="en-US" sz="900" b="0" dirty="0" smtClean="0">
                <a:solidFill>
                  <a:srgbClr val="5A5A6E"/>
                </a:solidFill>
                <a:latin typeface="微软雅黑"/>
              </a:rPr>
              <a:t>校准数据保存后</a:t>
            </a:r>
            <a:r>
              <a:rPr lang="en-US" sz="900" b="0" dirty="0" smtClean="0">
                <a:solidFill>
                  <a:srgbClr val="5A5A6E"/>
                </a:solidFill>
                <a:latin typeface="微软雅黑"/>
              </a:rPr>
              <a:t>，</a:t>
            </a:r>
            <a:r>
              <a:rPr lang="en-US" sz="900" b="0" dirty="0">
                <a:solidFill>
                  <a:srgbClr val="5A5A6E"/>
                </a:solidFill>
                <a:latin typeface="微软雅黑"/>
              </a:rPr>
              <a:t>进入监测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实时监测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已校准：显示个性化疲劳度 | 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未校准：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仅RMS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/MDF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有效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04</a:t>
            </a:r>
            <a:endParaRPr lang="en-US" sz="1100" dirty="0"/>
          </a:p>
        </p:txBody>
      </p:sp>
      <p:pic>
        <p:nvPicPr>
          <p:cNvPr id="6" name="Image 0" descr="E:/sEMG_B_Project/docs/pic/实时监测/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0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① 已校准状态（正常监测）</a:t>
            </a:r>
            <a:endParaRPr lang="en-US" sz="900" dirty="0"/>
          </a:p>
        </p:txBody>
      </p:sp>
      <p:pic>
        <p:nvPicPr>
          <p:cNvPr id="8" name="Image 1" descr="E:/sEMG_B_Project/docs/pic/实时监测/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0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② </a:t>
            </a:r>
            <a:r>
              <a:rPr lang="en-US" sz="900" b="0" dirty="0" err="1">
                <a:solidFill>
                  <a:srgbClr val="5A5A6E"/>
                </a:solidFill>
                <a:latin typeface="微软雅黑"/>
              </a:rPr>
              <a:t>无校准状态</a:t>
            </a:r>
            <a:r>
              <a:rPr lang="en-US" sz="900" b="0" dirty="0" smtClean="0">
                <a:solidFill>
                  <a:srgbClr val="5A5A6E"/>
                </a:solidFill>
                <a:latin typeface="微软雅黑"/>
              </a:rPr>
              <a:t>（⚠ </a:t>
            </a:r>
            <a:r>
              <a:rPr lang="en-US" sz="900" b="0" dirty="0" err="1" smtClean="0">
                <a:solidFill>
                  <a:srgbClr val="5A5A6E"/>
                </a:solidFill>
                <a:latin typeface="微软雅黑"/>
              </a:rPr>
              <a:t>红色警告提示</a:t>
            </a:r>
            <a:r>
              <a:rPr lang="en-US" sz="900" b="0" dirty="0">
                <a:solidFill>
                  <a:srgbClr val="5A5A6E"/>
                </a:solidFill>
                <a:latin typeface="微软雅黑"/>
              </a:rPr>
              <a:t>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数据分析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>
                <a:solidFill>
                  <a:srgbClr val="5A5A6E"/>
                </a:solidFill>
                <a:latin typeface="微软雅黑"/>
              </a:rPr>
              <a:t>多时间筛选（今天/昨天/最近3天/最近7天/最近30天/自定义） → 疲劳度趋势图表（ 疲劳度占比、峰值标记、智能建议、波形显示、颜色渐变填充 ） → CSV原始数据导出 → 微信</a:t>
            </a:r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05</a:t>
            </a:r>
            <a:endParaRPr lang="en-US" sz="1100" dirty="0"/>
          </a:p>
        </p:txBody>
      </p:sp>
      <p:pic>
        <p:nvPicPr>
          <p:cNvPr id="6" name="Image 0" descr="E:/sEMG_B_Project/docs/pic/数据分析/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262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2262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① </a:t>
            </a:r>
            <a:r>
              <a:rPr lang="en-US" sz="900" b="0" dirty="0" err="1" smtClean="0">
                <a:solidFill>
                  <a:srgbClr val="5A5A6E"/>
                </a:solidFill>
                <a:latin typeface="微软雅黑"/>
              </a:rPr>
              <a:t>今日数据统计</a:t>
            </a:r>
            <a:endParaRPr lang="en-US" sz="900" dirty="0"/>
          </a:p>
        </p:txBody>
      </p:sp>
      <p:pic>
        <p:nvPicPr>
          <p:cNvPr id="8" name="Image 1" descr="E:/sEMG_B_Project/docs/pic/数据分析/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4062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4062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② </a:t>
            </a:r>
            <a:r>
              <a:rPr lang="en-US" sz="900" b="0" dirty="0" err="1" smtClean="0">
                <a:solidFill>
                  <a:srgbClr val="5A5A6E"/>
                </a:solidFill>
                <a:latin typeface="微软雅黑"/>
              </a:rPr>
              <a:t>昨日数据统计</a:t>
            </a:r>
            <a:endParaRPr lang="en-US" sz="900" dirty="0"/>
          </a:p>
        </p:txBody>
      </p:sp>
      <p:pic>
        <p:nvPicPr>
          <p:cNvPr id="10" name="Image 0" descr="E:/sEMG_B_Project/docs/pic/数据分析/3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30142" y="1005840"/>
            <a:ext cx="2286000" cy="51206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330142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③ </a:t>
            </a:r>
            <a:r>
              <a:rPr lang="en-US" altLang="zh-CN" sz="900" b="0" dirty="0" err="1">
                <a:solidFill>
                  <a:srgbClr val="5A5A6E"/>
                </a:solidFill>
                <a:latin typeface="微软雅黑"/>
              </a:rPr>
              <a:t>数据导出</a:t>
            </a:r>
            <a:endParaRPr lang="en-US" sz="900" dirty="0"/>
          </a:p>
        </p:txBody>
      </p:sp>
      <p:pic>
        <p:nvPicPr>
          <p:cNvPr id="12" name="Image 1" descr="E:/sEMG_B_Project/docs/pic/数据分析/4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39102" y="1005840"/>
            <a:ext cx="2286000" cy="512064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439102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④ </a:t>
            </a:r>
            <a:r>
              <a:rPr lang="zh-CN" altLang="en-US" sz="900" b="0" dirty="0" smtClean="0">
                <a:solidFill>
                  <a:srgbClr val="5A5A6E"/>
                </a:solidFill>
                <a:latin typeface="微软雅黑"/>
              </a:rPr>
              <a:t>发送到微信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数据分析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</a:rPr>
              <a:t>原始数据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 →</a:t>
            </a:r>
            <a:r>
              <a:rPr lang="en-US" altLang="zh-CN" sz="1200" b="0" dirty="0" smtClean="0">
                <a:latin typeface="微软雅黑"/>
              </a:rPr>
              <a:t>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CSV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文件内容示例：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Date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/Time/RMS/A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ctivation/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MDF/Fatigue/Quality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05</a:t>
            </a:r>
            <a:endParaRPr lang="en-US" sz="1100" dirty="0"/>
          </a:p>
        </p:txBody>
      </p:sp>
      <p:pic>
        <p:nvPicPr>
          <p:cNvPr id="6" name="Image 0" descr="E:/sEMG_B_Project/docs/pic/数据分析/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42560" y="1005840"/>
            <a:ext cx="48768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42560" y="6172200"/>
            <a:ext cx="487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5A5A6E"/>
                </a:solidFill>
                <a:latin typeface="微软雅黑"/>
              </a:rPr>
              <a:t>⑥ </a:t>
            </a:r>
            <a:r>
              <a:rPr lang="en-US" sz="900" b="0" dirty="0" err="1">
                <a:solidFill>
                  <a:srgbClr val="5A5A6E"/>
                </a:solidFill>
                <a:latin typeface="微软雅黑"/>
              </a:rPr>
              <a:t>导出的CSV</a:t>
            </a:r>
            <a:r>
              <a:rPr lang="en-US" sz="900" b="0" dirty="0" err="1" smtClean="0">
                <a:solidFill>
                  <a:srgbClr val="5A5A6E"/>
                </a:solidFill>
                <a:latin typeface="微软雅黑"/>
              </a:rPr>
              <a:t>原始数据</a:t>
            </a:r>
            <a:endParaRPr lang="en-US" sz="900" dirty="0"/>
          </a:p>
        </p:txBody>
      </p:sp>
      <p:pic>
        <p:nvPicPr>
          <p:cNvPr id="8" name="Image 0" descr="E:/sEMG_B_Project/docs/pic/数据分析/5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8700" y="1005840"/>
            <a:ext cx="2286000" cy="5120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87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900" b="0" dirty="0">
                <a:solidFill>
                  <a:srgbClr val="5A5A6E"/>
                </a:solidFill>
                <a:latin typeface="微软雅黑"/>
              </a:rPr>
              <a:t>⑤</a:t>
            </a:r>
            <a:r>
              <a:rPr lang="en-US" altLang="zh-CN" sz="9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sz="900" b="0" dirty="0" err="1" smtClean="0">
                <a:solidFill>
                  <a:srgbClr val="5A5A6E"/>
                </a:solidFill>
                <a:latin typeface="微软雅黑"/>
              </a:rPr>
              <a:t>微信分享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285</Words>
  <Application>Microsoft Office PowerPoint</Application>
  <PresentationFormat>宽屏</PresentationFormat>
  <Paragraphs>80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Huang Hong (黄洪)</cp:lastModifiedBy>
  <cp:revision>10</cp:revision>
  <dcterms:created xsi:type="dcterms:W3CDTF">2026-07-07T10:04:36Z</dcterms:created>
  <dcterms:modified xsi:type="dcterms:W3CDTF">2026-07-07T11:58:03Z</dcterms:modified>
</cp:coreProperties>
</file>