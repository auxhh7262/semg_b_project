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6.jpg" ContentType="image/jpg"/>
  <Override PartName="/ppt/media/image17.jpg" ContentType="image/jpg"/>
  <Override PartName="/ppt/media/image18.jpg" ContentType="image/jpg"/>
  <Override PartName="/ppt/media/image19.jpg" ContentType="image/jpg"/>
  <Override PartName="/ppt/notesSlides/notesSlide8.xml" ContentType="application/vnd.openxmlformats-officedocument.presentationml.notesSlide+xml"/>
  <Override PartName="/ppt/media/image20.jpg" ContentType="image/jpg"/>
  <Override PartName="/ppt/media/image21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3" r:id="rId5"/>
    <p:sldId id="264" r:id="rId6"/>
    <p:sldId id="267" r:id="rId7"/>
    <p:sldId id="269" r:id="rId8"/>
    <p:sldId id="27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4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9406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1A2E"/>
                </a:solidFill>
              </a:rPr>
              <a:t>sEMG肌肉疲劳监测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B84D"/>
                </a:solidFill>
              </a:rPr>
              <a:t>小程序操作指南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400" b="1" dirty="0" smtClean="0">
                <a:solidFill>
                  <a:srgbClr val="1A1A2E"/>
                </a:solidFill>
                <a:latin typeface="微软雅黑"/>
              </a:rPr>
              <a:t>目录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0" dirty="0">
                <a:solidFill>
                  <a:srgbClr val="5A5A6E"/>
                </a:solidFill>
                <a:latin typeface="微软雅黑"/>
              </a:rPr>
              <a:t>小程序四大核心模块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7C00"/>
                </a:solidFill>
                <a:latin typeface="微软雅黑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网络配置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6E"/>
                </a:solidFill>
              </a:rPr>
              <a:t>设备WiFi配网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扫描连接设备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输入WiFi凭证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三步配网流程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设备IP管理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1737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84D"/>
                </a:solidFill>
                <a:latin typeface="微软雅黑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肌电校准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2468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6E"/>
                </a:solidFill>
              </a:rPr>
              <a:t>建立个人基准线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2926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录入个人信息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静息态采集（10秒）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3840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最大收缩采集（15秒）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74720" y="4297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校准结果保存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1737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979FF"/>
                </a:solidFill>
                <a:latin typeface="微软雅黑"/>
              </a:rPr>
              <a:t>03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实时监测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2468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6E"/>
                </a:solidFill>
              </a:rPr>
              <a:t>多维数据实时显示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926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RMS/MDF/收缩力度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疲劳度百分比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840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信号质量评分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297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算法状态指示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26880" y="1737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微软雅黑"/>
              </a:rPr>
              <a:t>04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32688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</a:rPr>
              <a:t>数据分析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326880" y="2468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6E"/>
                </a:solidFill>
              </a:rPr>
              <a:t>统计与趋势可视化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26880" y="2926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多时间筛选维度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2688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疲劳状态统计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0" y="3840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趋势图表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326880" y="42976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CSV数据导出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84D"/>
                </a:solidFill>
              </a:rPr>
              <a:t>💡 提示：首次使用请先完成「网络配置」 → 「肌电校准」，确保算法已校准后再进入实时监测，以获得准确的疲劳度数据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 smtClean="0">
                <a:solidFill>
                  <a:srgbClr val="1A1A2E"/>
                </a:solidFill>
                <a:latin typeface="微软雅黑"/>
              </a:rPr>
              <a:t>网络配置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8900" y="640080"/>
            <a:ext cx="115239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0" dirty="0" smtClean="0">
                <a:solidFill>
                  <a:srgbClr val="5A5A6E"/>
                </a:solidFill>
                <a:latin typeface="微软雅黑"/>
              </a:rPr>
              <a:t>「</a:t>
            </a:r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扫描设备</a:t>
            </a:r>
            <a:r>
              <a:rPr lang="en-US" sz="1200" b="0" dirty="0" err="1">
                <a:solidFill>
                  <a:srgbClr val="5A5A6E"/>
                </a:solidFill>
                <a:latin typeface="微软雅黑"/>
              </a:rPr>
              <a:t>」搜索附近</a:t>
            </a:r>
            <a:r>
              <a:rPr lang="en-US" sz="1200" b="0" dirty="0">
                <a:solidFill>
                  <a:srgbClr val="5A5A6E"/>
                </a:solidFill>
                <a:latin typeface="微软雅黑"/>
              </a:rPr>
              <a:t> sEMG 设备 → </a:t>
            </a:r>
            <a:r>
              <a:rPr lang="en-US" sz="1200" b="0" dirty="0" err="1">
                <a:solidFill>
                  <a:srgbClr val="5A5A6E"/>
                </a:solidFill>
                <a:latin typeface="微软雅黑"/>
              </a:rPr>
              <a:t>连接成功后显示设备</a:t>
            </a:r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ID</a:t>
            </a:r>
            <a:r>
              <a:rPr lang="en-US" sz="1200" b="0" dirty="0" smtClean="0">
                <a:solidFill>
                  <a:srgbClr val="5A5A6E"/>
                </a:solidFill>
                <a:latin typeface="微软雅黑"/>
              </a:rPr>
              <a:t> 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→ </a:t>
            </a:r>
            <a:r>
              <a:rPr lang="en-US" altLang="zh-CN" sz="1200" b="0" dirty="0" smtClean="0">
                <a:solidFill>
                  <a:srgbClr val="5A5A6E"/>
                </a:solidFill>
                <a:latin typeface="微软雅黑"/>
              </a:rPr>
              <a:t>输入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2.4GHz </a:t>
            </a:r>
            <a:r>
              <a:rPr lang="en-US" altLang="zh-CN" sz="1200" b="0" dirty="0" err="1">
                <a:solidFill>
                  <a:srgbClr val="5A5A6E"/>
                </a:solidFill>
                <a:latin typeface="微软雅黑"/>
              </a:rPr>
              <a:t>WiFi</a:t>
            </a:r>
            <a:r>
              <a:rPr lang="en-US" altLang="zh-CN" sz="1200" b="0" dirty="0" err="1" smtClean="0">
                <a:solidFill>
                  <a:srgbClr val="5A5A6E"/>
                </a:solidFill>
                <a:latin typeface="微软雅黑"/>
              </a:rPr>
              <a:t>凭证</a:t>
            </a:r>
            <a:r>
              <a:rPr lang="en-US" altLang="zh-CN" sz="1200" b="0" dirty="0" err="1">
                <a:solidFill>
                  <a:srgbClr val="5A5A6E"/>
                </a:solidFill>
                <a:latin typeface="微软雅黑"/>
              </a:rPr>
              <a:t>,</a:t>
            </a:r>
            <a:r>
              <a:rPr lang="en-US" altLang="zh-CN" sz="1200" b="0" dirty="0" err="1" smtClean="0">
                <a:solidFill>
                  <a:srgbClr val="5A5A6E"/>
                </a:solidFill>
                <a:latin typeface="微软雅黑"/>
              </a:rPr>
              <a:t>确认配置</a:t>
            </a:r>
            <a:r>
              <a:rPr lang="en-US" altLang="zh-CN" sz="1200" b="0" dirty="0" smtClean="0">
                <a:solidFill>
                  <a:srgbClr val="5A5A6E"/>
                </a:solidFill>
                <a:latin typeface="微软雅黑"/>
              </a:rPr>
              <a:t> 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→ </a:t>
            </a:r>
            <a:r>
              <a:rPr lang="en-US" altLang="zh-CN" sz="1200" b="0" dirty="0" err="1">
                <a:solidFill>
                  <a:srgbClr val="5A5A6E"/>
                </a:solidFill>
                <a:latin typeface="微软雅黑"/>
              </a:rPr>
              <a:t>等待配网完成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 → </a:t>
            </a:r>
            <a:r>
              <a:rPr lang="en-US" altLang="zh-CN" sz="1200" b="0" dirty="0" err="1">
                <a:solidFill>
                  <a:srgbClr val="5A5A6E"/>
                </a:solidFill>
                <a:latin typeface="微软雅黑"/>
              </a:rPr>
              <a:t>设备已连接WiFi网络，可查看IP</a:t>
            </a:r>
            <a:r>
              <a:rPr lang="en-US" altLang="zh-CN" sz="1200" b="0" dirty="0" err="1" smtClean="0">
                <a:solidFill>
                  <a:srgbClr val="5A5A6E"/>
                </a:solidFill>
                <a:latin typeface="微软雅黑"/>
              </a:rPr>
              <a:t>地址并进行管理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7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① 未连接（初始状态）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2540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② 设备已连接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953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③ 输入WiFi SSID 和密码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7366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④ 配网进行中（三步指示）</a:t>
            </a:r>
            <a:endParaRPr lang="en-US" sz="900" dirty="0"/>
          </a:p>
        </p:txBody>
      </p:sp>
      <p:sp>
        <p:nvSpPr>
          <p:cNvPr id="15" name="Text 4"/>
          <p:cNvSpPr/>
          <p:nvPr/>
        </p:nvSpPr>
        <p:spPr>
          <a:xfrm>
            <a:off x="9779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⑤ 配网完成（显示设备IP地址）</a:t>
            </a:r>
            <a:endParaRPr lang="en-US" sz="900" dirty="0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00" y="1005840"/>
            <a:ext cx="2286000" cy="512064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005840"/>
            <a:ext cx="2286000" cy="512064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0" y="1005840"/>
            <a:ext cx="2286000" cy="51206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005840"/>
            <a:ext cx="2286000" cy="5120640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6000" y="1005840"/>
            <a:ext cx="2286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 err="1" smtClean="0">
                <a:solidFill>
                  <a:srgbClr val="1A1A2E"/>
                </a:solidFill>
                <a:latin typeface="微软雅黑"/>
              </a:rPr>
              <a:t>肌电校准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1200" b="0" dirty="0" err="1" smtClean="0">
                <a:solidFill>
                  <a:srgbClr val="1A1A2E"/>
                </a:solidFill>
                <a:latin typeface="微软雅黑"/>
              </a:rPr>
              <a:t>录入</a:t>
            </a:r>
            <a:r>
              <a:rPr lang="zh-CN" altLang="en-US" sz="1200" b="0" dirty="0" smtClean="0">
                <a:solidFill>
                  <a:srgbClr val="1A1A2E"/>
                </a:solidFill>
                <a:latin typeface="微软雅黑"/>
              </a:rPr>
              <a:t>个人</a:t>
            </a:r>
            <a:r>
              <a:rPr lang="en-US" altLang="zh-CN" sz="1200" b="0" dirty="0" err="1" smtClean="0">
                <a:solidFill>
                  <a:srgbClr val="5A5A6E"/>
                </a:solidFill>
                <a:latin typeface="微软雅黑"/>
              </a:rPr>
              <a:t>信息</a:t>
            </a:r>
            <a:r>
              <a:rPr lang="en-US" altLang="zh-CN" sz="1200" b="0" dirty="0" smtClean="0">
                <a:solidFill>
                  <a:srgbClr val="5A5A6E"/>
                </a:solidFill>
                <a:latin typeface="微软雅黑"/>
              </a:rPr>
              <a:t> 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→ </a:t>
            </a:r>
            <a:r>
              <a:rPr lang="en-US" altLang="zh-CN" sz="1200" b="0" dirty="0" err="1" smtClean="0">
                <a:solidFill>
                  <a:srgbClr val="5A5A6E"/>
                </a:solidFill>
                <a:latin typeface="微软雅黑"/>
              </a:rPr>
              <a:t>确认开始校准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540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① </a:t>
            </a:r>
            <a:r>
              <a:rPr lang="zh-CN" altLang="en-US" sz="900" b="0" dirty="0" smtClean="0">
                <a:solidFill>
                  <a:srgbClr val="5A5A6E"/>
                </a:solidFill>
                <a:latin typeface="微软雅黑"/>
              </a:rPr>
              <a:t>肌电</a:t>
            </a:r>
            <a:r>
              <a:rPr lang="en-US" altLang="zh-CN" sz="900" b="0" dirty="0" err="1" smtClean="0">
                <a:solidFill>
                  <a:srgbClr val="5A5A6E"/>
                </a:solidFill>
                <a:latin typeface="微软雅黑"/>
              </a:rPr>
              <a:t>校准主界面</a:t>
            </a:r>
            <a:endParaRPr lang="en-US" altLang="zh-CN" sz="900" dirty="0"/>
          </a:p>
        </p:txBody>
      </p:sp>
      <p:sp>
        <p:nvSpPr>
          <p:cNvPr id="9" name="Text 5"/>
          <p:cNvSpPr/>
          <p:nvPr/>
        </p:nvSpPr>
        <p:spPr>
          <a:xfrm>
            <a:off x="7366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② </a:t>
            </a:r>
            <a:r>
              <a:rPr lang="en-US" altLang="zh-CN" sz="900" b="0" dirty="0" err="1" smtClean="0">
                <a:solidFill>
                  <a:srgbClr val="5A5A6E"/>
                </a:solidFill>
                <a:latin typeface="微软雅黑"/>
              </a:rPr>
              <a:t>个人信息录入弹窗</a:t>
            </a:r>
            <a:endParaRPr lang="en-US" sz="900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6000" y="1005840"/>
            <a:ext cx="2286000" cy="51206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0" y="1005840"/>
            <a:ext cx="2286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 err="1">
                <a:solidFill>
                  <a:srgbClr val="1A1A2E"/>
                </a:solidFill>
                <a:latin typeface="微软雅黑"/>
              </a:rPr>
              <a:t>肌电校准</a:t>
            </a:r>
            <a:r>
              <a:rPr lang="en-US" sz="2400" b="1" dirty="0">
                <a:solidFill>
                  <a:srgbClr val="1A1A2E"/>
                </a:solidFill>
                <a:latin typeface="微软雅黑"/>
              </a:rPr>
              <a:t> </a:t>
            </a:r>
            <a:endParaRPr lang="en-US" altLang="zh-CN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静息态采集（10秒） → 最大收缩采集（15秒） → 校准通过保存数据 → 进入实时监测</a:t>
            </a:r>
            <a:endParaRPr lang="en-US" altLang="zh-CN" sz="1200" dirty="0"/>
          </a:p>
          <a:p>
            <a:endParaRPr lang="en-US" alt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7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③ </a:t>
            </a:r>
            <a:r>
              <a:rPr lang="en-US" altLang="zh-CN" sz="900" b="0" dirty="0" err="1">
                <a:solidFill>
                  <a:srgbClr val="5A5A6E"/>
                </a:solidFill>
                <a:latin typeface="微软雅黑"/>
              </a:rPr>
              <a:t>静息态采集进行中</a:t>
            </a:r>
            <a:r>
              <a:rPr lang="en-US" altLang="zh-CN" sz="900" b="0" dirty="0">
                <a:solidFill>
                  <a:srgbClr val="5A5A6E"/>
                </a:solidFill>
                <a:latin typeface="微软雅黑"/>
              </a:rPr>
              <a:t> </a:t>
            </a:r>
            <a:endParaRPr lang="en-US" altLang="zh-CN" sz="900" dirty="0"/>
          </a:p>
        </p:txBody>
      </p:sp>
      <p:sp>
        <p:nvSpPr>
          <p:cNvPr id="9" name="Text 5"/>
          <p:cNvSpPr/>
          <p:nvPr/>
        </p:nvSpPr>
        <p:spPr>
          <a:xfrm>
            <a:off x="2540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④ </a:t>
            </a:r>
            <a:r>
              <a:rPr lang="zh-CN" altLang="en-US" sz="900" b="0" dirty="0" smtClean="0">
                <a:solidFill>
                  <a:srgbClr val="5A5A6E"/>
                </a:solidFill>
                <a:latin typeface="微软雅黑"/>
              </a:rPr>
              <a:t>静息态采集完成，准备最大收缩采集</a:t>
            </a:r>
            <a:endParaRPr lang="en-US" sz="900" dirty="0"/>
          </a:p>
        </p:txBody>
      </p:sp>
      <p:sp>
        <p:nvSpPr>
          <p:cNvPr id="13" name="Text 4"/>
          <p:cNvSpPr/>
          <p:nvPr/>
        </p:nvSpPr>
        <p:spPr>
          <a:xfrm>
            <a:off x="4953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⑤ </a:t>
            </a:r>
            <a:r>
              <a:rPr lang="en-US" altLang="zh-CN" sz="900" b="0" dirty="0" err="1" smtClean="0">
                <a:solidFill>
                  <a:srgbClr val="5A5A6E"/>
                </a:solidFill>
                <a:latin typeface="微软雅黑"/>
              </a:rPr>
              <a:t>最大收缩采集进行中</a:t>
            </a:r>
            <a:endParaRPr lang="en-US" sz="900" dirty="0"/>
          </a:p>
        </p:txBody>
      </p:sp>
      <p:sp>
        <p:nvSpPr>
          <p:cNvPr id="15" name="Text 5"/>
          <p:cNvSpPr/>
          <p:nvPr/>
        </p:nvSpPr>
        <p:spPr>
          <a:xfrm>
            <a:off x="7366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⑥ </a:t>
            </a:r>
            <a:r>
              <a:rPr lang="zh-CN" altLang="en-US" sz="900" b="0" dirty="0" smtClean="0">
                <a:solidFill>
                  <a:srgbClr val="5A5A6E"/>
                </a:solidFill>
                <a:latin typeface="微软雅黑"/>
              </a:rPr>
              <a:t>校准完成提示保存</a:t>
            </a:r>
            <a:endParaRPr lang="en-US" sz="900" dirty="0"/>
          </a:p>
        </p:txBody>
      </p:sp>
      <p:sp>
        <p:nvSpPr>
          <p:cNvPr id="17" name="Text 4"/>
          <p:cNvSpPr/>
          <p:nvPr/>
        </p:nvSpPr>
        <p:spPr>
          <a:xfrm>
            <a:off x="97790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⑦ </a:t>
            </a:r>
            <a:r>
              <a:rPr lang="zh-CN" altLang="en-US" sz="900" b="0" dirty="0" smtClean="0">
                <a:solidFill>
                  <a:srgbClr val="5A5A6E"/>
                </a:solidFill>
                <a:latin typeface="微软雅黑"/>
              </a:rPr>
              <a:t>校准数据保存后</a:t>
            </a:r>
            <a:r>
              <a:rPr lang="en-US" sz="900" b="0" dirty="0" smtClean="0">
                <a:solidFill>
                  <a:srgbClr val="5A5A6E"/>
                </a:solidFill>
                <a:latin typeface="微软雅黑"/>
              </a:rPr>
              <a:t>，</a:t>
            </a:r>
            <a:r>
              <a:rPr lang="en-US" sz="900" b="0" dirty="0">
                <a:solidFill>
                  <a:srgbClr val="5A5A6E"/>
                </a:solidFill>
                <a:latin typeface="微软雅黑"/>
              </a:rPr>
              <a:t>进入监测</a:t>
            </a:r>
            <a:endParaRPr lang="en-US" sz="900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00" y="1005840"/>
            <a:ext cx="2286000" cy="51206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005840"/>
            <a:ext cx="2286000" cy="512064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0" y="1005840"/>
            <a:ext cx="2286000" cy="51206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005840"/>
            <a:ext cx="2286000" cy="5120640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6000" y="1005840"/>
            <a:ext cx="2286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A1A2E"/>
                </a:solidFill>
                <a:latin typeface="微软雅黑"/>
              </a:rPr>
              <a:t>实时监测</a:t>
            </a:r>
            <a:r>
              <a:rPr lang="en-US" sz="2400" b="1" dirty="0">
                <a:solidFill>
                  <a:srgbClr val="1A1A2E"/>
                </a:solidFill>
                <a:latin typeface="微软雅黑"/>
              </a:rPr>
              <a:t> 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未校准</a:t>
            </a:r>
            <a:r>
              <a:rPr lang="en-US" sz="1200" b="0" dirty="0" err="1">
                <a:solidFill>
                  <a:srgbClr val="5A5A6E"/>
                </a:solidFill>
                <a:latin typeface="微软雅黑"/>
              </a:rPr>
              <a:t>：</a:t>
            </a:r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仅RMS</a:t>
            </a:r>
            <a:r>
              <a:rPr lang="en-US" sz="1200" b="0" dirty="0" smtClean="0">
                <a:solidFill>
                  <a:srgbClr val="5A5A6E"/>
                </a:solidFill>
                <a:latin typeface="微软雅黑"/>
              </a:rPr>
              <a:t>/MDF</a:t>
            </a:r>
            <a:r>
              <a:rPr lang="zh-CN" altLang="en-US" sz="1200" b="0" dirty="0" smtClean="0">
                <a:solidFill>
                  <a:srgbClr val="5A5A6E"/>
                </a:solidFill>
                <a:latin typeface="微软雅黑"/>
              </a:rPr>
              <a:t>有效 </a:t>
            </a:r>
            <a:r>
              <a:rPr lang="en-US" altLang="zh-CN" sz="1200" dirty="0" smtClean="0">
                <a:solidFill>
                  <a:srgbClr val="5A5A6E"/>
                </a:solidFill>
                <a:latin typeface="微软雅黑"/>
              </a:rPr>
              <a:t>| </a:t>
            </a:r>
            <a:r>
              <a:rPr lang="en-US" altLang="zh-CN" sz="1200" dirty="0" err="1" smtClean="0">
                <a:solidFill>
                  <a:srgbClr val="5A5A6E"/>
                </a:solidFill>
                <a:latin typeface="微软雅黑"/>
              </a:rPr>
              <a:t>已校准</a:t>
            </a:r>
            <a:r>
              <a:rPr lang="en-US" altLang="zh-CN" sz="1200" dirty="0" err="1">
                <a:solidFill>
                  <a:srgbClr val="5A5A6E"/>
                </a:solidFill>
                <a:latin typeface="微软雅黑"/>
              </a:rPr>
              <a:t>：</a:t>
            </a:r>
            <a:r>
              <a:rPr lang="en-US" altLang="zh-CN" sz="1200" dirty="0" err="1" smtClean="0">
                <a:solidFill>
                  <a:srgbClr val="5A5A6E"/>
                </a:solidFill>
                <a:latin typeface="微软雅黑"/>
              </a:rPr>
              <a:t>显示个性化疲劳度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04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335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zh-CN" sz="900" dirty="0">
                <a:solidFill>
                  <a:srgbClr val="5A5A6E"/>
                </a:solidFill>
                <a:latin typeface="微软雅黑"/>
              </a:rPr>
              <a:t>① 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未校准状态</a:t>
            </a:r>
            <a:r>
              <a:rPr lang="en-US" sz="900" b="0" dirty="0">
                <a:solidFill>
                  <a:srgbClr val="5A5A6E"/>
                </a:solidFill>
                <a:latin typeface="微软雅黑"/>
              </a:rPr>
              <a:t>（⚠红色警告提示）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85725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CN" altLang="en-US" sz="900" dirty="0">
                <a:latin typeface="微软雅黑"/>
              </a:rPr>
              <a:t>③ 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已校准状态</a:t>
            </a:r>
            <a:r>
              <a:rPr lang="en-US" sz="900" b="0" dirty="0" err="1">
                <a:solidFill>
                  <a:srgbClr val="5A5A6E"/>
                </a:solidFill>
                <a:latin typeface="微软雅黑"/>
              </a:rPr>
              <a:t>（正常监测</a:t>
            </a:r>
            <a:r>
              <a:rPr lang="en-US" sz="900" b="0" dirty="0">
                <a:solidFill>
                  <a:srgbClr val="5A5A6E"/>
                </a:solidFill>
                <a:latin typeface="微软雅黑"/>
              </a:rPr>
              <a:t>）</a:t>
            </a:r>
            <a:endParaRPr lang="en-US" sz="900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005840"/>
            <a:ext cx="2286000" cy="51206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1005840"/>
            <a:ext cx="2286000" cy="512064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0" y="1005840"/>
            <a:ext cx="2286000" cy="5120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53000" y="6263640"/>
            <a:ext cx="2286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zh-CN" sz="900" dirty="0" smtClean="0">
                <a:solidFill>
                  <a:srgbClr val="5A5A6E"/>
                </a:solidFill>
                <a:latin typeface="微软雅黑"/>
              </a:rPr>
              <a:t>②</a:t>
            </a:r>
            <a:r>
              <a:rPr sz="900" b="0" dirty="0" err="1" smtClean="0">
                <a:latin typeface="微软雅黑"/>
              </a:rPr>
              <a:t>传感器</a:t>
            </a:r>
            <a:r>
              <a:rPr lang="zh-CN" altLang="en-US" sz="900" b="0" dirty="0" smtClean="0">
                <a:latin typeface="微软雅黑"/>
              </a:rPr>
              <a:t>未佩戴提醒</a:t>
            </a:r>
            <a:endParaRPr sz="900" b="0" dirty="0"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A1A2E"/>
                </a:solidFill>
                <a:latin typeface="微软雅黑"/>
              </a:rPr>
              <a:t>数据分析</a:t>
            </a:r>
            <a:r>
              <a:rPr lang="en-US" sz="2400" b="1" dirty="0">
                <a:solidFill>
                  <a:srgbClr val="1A1A2E"/>
                </a:solidFill>
                <a:latin typeface="微软雅黑"/>
              </a:rPr>
              <a:t> 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0" dirty="0">
                <a:solidFill>
                  <a:srgbClr val="5A5A6E"/>
                </a:solidFill>
                <a:latin typeface="微软雅黑"/>
              </a:rPr>
              <a:t>多时间筛选（今天/昨天/最近3天/最近7天/最近30天/自定义） → 疲劳度趋势图表（ 疲劳度占比、峰值标记、智能建议、波形显示、颜色渐变填充 ） → CSV原始数据导出 → 微信</a:t>
            </a:r>
            <a:endParaRPr lang="en-US" altLang="zh-CN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05</a:t>
            </a:r>
            <a:endParaRPr lang="en-US" sz="1100" dirty="0"/>
          </a:p>
        </p:txBody>
      </p:sp>
      <p:pic>
        <p:nvPicPr>
          <p:cNvPr id="6" name="Image 0" descr="E:/sEMG_B_Project/docs/pic/数据分析/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" y="1005840"/>
            <a:ext cx="228600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96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① 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今日数据统计</a:t>
            </a:r>
            <a:endParaRPr lang="en-US" sz="900" dirty="0"/>
          </a:p>
        </p:txBody>
      </p:sp>
      <p:pic>
        <p:nvPicPr>
          <p:cNvPr id="8" name="Image 1" descr="E:/sEMG_B_Project/docs/pic/数据分析/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505200" y="1005840"/>
            <a:ext cx="2286000" cy="5120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052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② 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昨日数据统计</a:t>
            </a:r>
            <a:endParaRPr lang="en-US" sz="900" dirty="0"/>
          </a:p>
        </p:txBody>
      </p:sp>
      <p:pic>
        <p:nvPicPr>
          <p:cNvPr id="10" name="Image 0" descr="E:/sEMG_B_Project/docs/pic/数据分析/3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00800" y="1005840"/>
            <a:ext cx="2286000" cy="512064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4008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③ </a:t>
            </a:r>
            <a:r>
              <a:rPr lang="en-US" altLang="zh-CN" sz="900" b="0" dirty="0" err="1">
                <a:solidFill>
                  <a:srgbClr val="5A5A6E"/>
                </a:solidFill>
                <a:latin typeface="微软雅黑"/>
              </a:rPr>
              <a:t>数据导出</a:t>
            </a:r>
            <a:endParaRPr lang="en-US" sz="900" dirty="0"/>
          </a:p>
        </p:txBody>
      </p:sp>
      <p:pic>
        <p:nvPicPr>
          <p:cNvPr id="12" name="Image 1" descr="E:/sEMG_B_Project/docs/pic/数据分析/4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296400" y="1005840"/>
            <a:ext cx="2286000" cy="512064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92964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④ </a:t>
            </a:r>
            <a:r>
              <a:rPr lang="zh-CN" altLang="en-US" sz="900" b="0" dirty="0" smtClean="0">
                <a:solidFill>
                  <a:srgbClr val="5A5A6E"/>
                </a:solidFill>
                <a:latin typeface="微软雅黑"/>
              </a:rPr>
              <a:t>发送到微信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 smtClean="0">
                <a:solidFill>
                  <a:srgbClr val="1A1A2E"/>
                </a:solidFill>
                <a:latin typeface="微软雅黑"/>
              </a:rPr>
              <a:t>数据分析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1200" b="0" dirty="0" err="1" smtClean="0">
                <a:solidFill>
                  <a:srgbClr val="1A1A2E"/>
                </a:solidFill>
                <a:latin typeface="微软雅黑"/>
              </a:rPr>
              <a:t>原始数据</a:t>
            </a:r>
            <a:r>
              <a:rPr lang="en-US" altLang="zh-CN" sz="1200" b="0" dirty="0">
                <a:solidFill>
                  <a:srgbClr val="5A5A6E"/>
                </a:solidFill>
                <a:latin typeface="微软雅黑"/>
              </a:rPr>
              <a:t> →</a:t>
            </a:r>
            <a:r>
              <a:rPr lang="en-US" altLang="zh-CN" sz="1200" b="0" dirty="0" smtClean="0">
                <a:latin typeface="微软雅黑"/>
              </a:rPr>
              <a:t> </a:t>
            </a:r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CSV</a:t>
            </a:r>
            <a:r>
              <a:rPr lang="en-US" sz="1200" b="0" dirty="0" err="1">
                <a:solidFill>
                  <a:srgbClr val="5A5A6E"/>
                </a:solidFill>
                <a:latin typeface="微软雅黑"/>
              </a:rPr>
              <a:t>文件内容示例：</a:t>
            </a:r>
            <a:r>
              <a:rPr lang="en-US" sz="1200" b="0" dirty="0" err="1" smtClean="0">
                <a:solidFill>
                  <a:srgbClr val="5A5A6E"/>
                </a:solidFill>
                <a:latin typeface="微软雅黑"/>
              </a:rPr>
              <a:t>Date</a:t>
            </a:r>
            <a:r>
              <a:rPr lang="en-US" sz="1200" b="0" dirty="0" smtClean="0">
                <a:solidFill>
                  <a:srgbClr val="5A5A6E"/>
                </a:solidFill>
                <a:latin typeface="微软雅黑"/>
              </a:rPr>
              <a:t>/Time/RMS/A</a:t>
            </a:r>
            <a:r>
              <a:rPr lang="en-US" altLang="zh-CN" sz="1200" b="0" dirty="0" smtClean="0">
                <a:solidFill>
                  <a:srgbClr val="5A5A6E"/>
                </a:solidFill>
                <a:latin typeface="微软雅黑"/>
              </a:rPr>
              <a:t>ctivation/</a:t>
            </a:r>
            <a:r>
              <a:rPr lang="en-US" sz="1200" b="0" dirty="0" smtClean="0">
                <a:solidFill>
                  <a:srgbClr val="5A5A6E"/>
                </a:solidFill>
                <a:latin typeface="微软雅黑"/>
              </a:rPr>
              <a:t>MDF/Fatigue/Quality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66960" y="182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/>
              </a:rPr>
              <a:t>05</a:t>
            </a:r>
            <a:endParaRPr lang="en-US" sz="1100" dirty="0"/>
          </a:p>
        </p:txBody>
      </p:sp>
      <p:pic>
        <p:nvPicPr>
          <p:cNvPr id="6" name="Image 0" descr="E:/sEMG_B_Project/docs/pic/数据分析/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42560" y="1005840"/>
            <a:ext cx="487680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42560" y="6172200"/>
            <a:ext cx="487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5A5A6E"/>
                </a:solidFill>
                <a:latin typeface="微软雅黑"/>
              </a:rPr>
              <a:t>⑥ </a:t>
            </a:r>
            <a:r>
              <a:rPr lang="en-US" sz="900" b="0" dirty="0" err="1">
                <a:solidFill>
                  <a:srgbClr val="5A5A6E"/>
                </a:solidFill>
                <a:latin typeface="微软雅黑"/>
              </a:rPr>
              <a:t>导出的CSV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原始数据</a:t>
            </a:r>
            <a:endParaRPr lang="en-US" sz="900" dirty="0"/>
          </a:p>
        </p:txBody>
      </p:sp>
      <p:pic>
        <p:nvPicPr>
          <p:cNvPr id="8" name="Image 0" descr="E:/sEMG_B_Project/docs/pic/数据分析/5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8700" y="1005840"/>
            <a:ext cx="2286000" cy="51206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28700" y="6172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zh-CN" sz="900" b="0" dirty="0">
                <a:solidFill>
                  <a:srgbClr val="5A5A6E"/>
                </a:solidFill>
                <a:latin typeface="微软雅黑"/>
              </a:rPr>
              <a:t>⑤</a:t>
            </a:r>
            <a:r>
              <a:rPr lang="en-US" altLang="zh-CN" sz="900" b="0" dirty="0" smtClean="0">
                <a:solidFill>
                  <a:srgbClr val="5A5A6E"/>
                </a:solidFill>
                <a:latin typeface="微软雅黑"/>
              </a:rPr>
              <a:t> </a:t>
            </a:r>
            <a:r>
              <a:rPr lang="en-US" sz="900" b="0" dirty="0" err="1" smtClean="0">
                <a:solidFill>
                  <a:srgbClr val="5A5A6E"/>
                </a:solidFill>
                <a:latin typeface="微软雅黑"/>
              </a:rPr>
              <a:t>微信分享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290</Words>
  <Application>Microsoft Office PowerPoint</Application>
  <PresentationFormat>宽屏</PresentationFormat>
  <Paragraphs>81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Huang Hong (黄洪)</cp:lastModifiedBy>
  <cp:revision>16</cp:revision>
  <dcterms:created xsi:type="dcterms:W3CDTF">2026-07-07T10:04:36Z</dcterms:created>
  <dcterms:modified xsi:type="dcterms:W3CDTF">2026-07-11T09:34:16Z</dcterms:modified>
</cp:coreProperties>
</file>